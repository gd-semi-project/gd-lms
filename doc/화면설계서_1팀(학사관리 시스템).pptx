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60" r:id="rId3"/>
    <p:sldId id="257" r:id="rId4"/>
    <p:sldId id="305" r:id="rId5"/>
    <p:sldId id="261" r:id="rId6"/>
    <p:sldId id="265" r:id="rId7"/>
    <p:sldId id="266" r:id="rId8"/>
    <p:sldId id="267" r:id="rId9"/>
    <p:sldId id="259" r:id="rId10"/>
    <p:sldId id="262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263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64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0"/>
    <p:restoredTop sz="94658"/>
  </p:normalViewPr>
  <p:slideViewPr>
    <p:cSldViewPr snapToGrid="0">
      <p:cViewPr varScale="1">
        <p:scale>
          <a:sx n="120" d="100"/>
          <a:sy n="120" d="100"/>
        </p:scale>
        <p:origin x="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22F904-6223-9344-8866-5BBE73F1CB4B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59922-A68C-7440-95F5-51409C6C4FD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45687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8C2A0D-2FE5-4247-A955-C1935D36AF2B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8775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10A37-D59F-34F1-83CA-65E727AC1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DA871D-D529-2D06-CA80-8457B08F33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5EABA2-E4BB-A539-BB00-F447DE552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327341-277E-BC87-FAF2-F876AB4195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8C2A0D-2FE5-4247-A955-C1935D36AF2B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12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3E106-45CB-9FC8-A5C9-1DADDA615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F13510-DF2F-52D8-295F-64A018F9D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D80664-20CA-7D37-689A-405DE69243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B489DE-BDBC-55C3-37A5-5F0B501958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8C2A0D-2FE5-4247-A955-C1935D36AF2B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91282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F6355-17BF-5B52-B140-2E094DF1D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690399-909C-4F4F-7C47-7B398C09C9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299631-7B5B-EDFA-3F18-82DAA5B17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931C19-2494-0706-8FB8-4C05015FAC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8C2A0D-2FE5-4247-A955-C1935D36AF2B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3538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8C2A0D-2FE5-4247-A955-C1935D36AF2B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055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0AF52-74A4-B5A7-B8CA-B9502CC5E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B97C7C-4AC6-2FB7-059F-DE52DEA660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70434B-A923-19B1-7EA3-134BC7189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D9C037-742E-0D93-7892-2BB162596F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8C2A0D-2FE5-4247-A955-C1935D36AF2B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6420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C9B48-22BA-87E4-83D1-68F76361E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9EF3B9-69A6-40C1-977B-17DA5FCE34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F683E4-3FDA-659B-C7A4-C373CA486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2FE328-D202-C26E-1E89-F4017EBA59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8C2A0D-2FE5-4247-A955-C1935D36AF2B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36383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3E9C1-6364-999B-9906-543C313B7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326CEB1-4463-E8BF-6493-13741CC78F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2DDFD8-CB53-1EE2-05B7-B3DB82BBD0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938CBD-BE87-80B6-7BE0-D7C3002907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8C2A0D-2FE5-4247-A955-C1935D36AF2B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5708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53FDF-09E0-2514-2849-0B0966BA6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23456F-52A7-F583-7127-622E30C760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5F8BE8-46E4-FB2E-4E26-820569380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2BC9C3-E315-6369-742B-C9BDD8971B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8C2A0D-2FE5-4247-A955-C1935D36AF2B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6912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1F64D-CDF7-D464-2D2F-466D72E58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070CDD-0844-9297-3A83-2091C97F3D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62765F-5BF3-8E6E-A6F4-DF236326A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649D46-0B40-E2EB-F65A-AC2E44DB88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8C2A0D-2FE5-4247-A955-C1935D36AF2B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38933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77BD8-EBF8-75CE-E828-F912CC051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DACD6C-90A7-3820-D30B-EA6721125A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CF27E9-4227-250A-E4C4-7AC3F14E87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C1E48F-DEE8-ADAE-D14F-845D52F7F4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8C2A0D-2FE5-4247-A955-C1935D36AF2B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7587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CE4DC-B5A3-4F9B-15D4-ED48466DC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93B965-9618-AAA9-F1B0-B9E47BB1E3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2586FD-CCC0-7043-553F-FD6B1C16E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226D1E-6870-AE83-3135-1FF19F8BF8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8C2A0D-2FE5-4247-A955-C1935D36AF2B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7613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730C9-98A2-1313-F49A-DDE770183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A5038B-EE4F-C510-0D5B-22DC235A81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506993-9692-225D-1AFC-6FF5504CA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1EDC2D-2290-2F38-CDAD-153D7DFCF3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8C2A0D-2FE5-4247-A955-C1935D36AF2B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76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CD0FDC-4EC9-60A6-CE74-FE588F157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A542CA9-1DA7-2416-65FE-C8EE9630EC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323CBD-8E22-3615-00CF-505BD12E1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98E3-FC49-CD49-B2CF-15C0F262321E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7364EC-58C7-3EDB-BEFF-6BF3DB323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677487-59F9-E030-64CF-3DBF3CD85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2F18-06FC-8345-B26A-8EA88E95B5A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1399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7C86D0-9F3A-F777-6C35-A175F1850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EAF3DA-2F7A-89FC-BA98-66284FB09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32A7F8-D337-8A36-B786-0A9973471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98E3-FC49-CD49-B2CF-15C0F262321E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FD2AFB-7210-F3A1-64B6-F475E3C87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699EF6-3B1A-C2F3-2A3C-8A2F1FEAB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2F18-06FC-8345-B26A-8EA88E95B5A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35011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4C7BB0-1E4C-2882-5A41-676C6D3F1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56F792-B404-705E-0AC1-171F757D4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1AF58F-3D80-640C-CCAF-F97289E4C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98E3-FC49-CD49-B2CF-15C0F262321E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0FAEB-32F7-751C-FCC4-CCAFCBB14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945F78-147A-196E-6BDC-32740B6FF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2F18-06FC-8345-B26A-8EA88E95B5A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91450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EF42A7-E4FC-360F-ED29-70525D2E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9CEB46-3E50-577A-789A-2CB5B7A5F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01D699-1262-D854-DB04-067FFE5B7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4FEF17-237C-BCBB-1CD0-CBEDF479A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98E3-FC49-CD49-B2CF-15C0F262321E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B1DFE9-A411-2C2C-44F7-FE5154F13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A768C3-8798-6342-B917-A1E26BC7C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2F18-06FC-8345-B26A-8EA88E95B5A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23546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F23212-DE45-B196-2287-19FCBE4AC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D45E1D-B12B-1016-3FFE-DB7BD9AC1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839BD1-8CDD-37FB-CD6D-112AC0CC0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F6202E6-D217-90CD-9D5A-76D081CBB7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F244864-40B3-420E-79D8-4C180D5D0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76EF60B-75FA-2A14-23DA-5EC561A66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98E3-FC49-CD49-B2CF-15C0F262321E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05DB80A-A821-B519-84AA-7DB9A1FE9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5551CA4-5272-9218-C6E5-C9F092E03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2F18-06FC-8345-B26A-8EA88E95B5A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2289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561323-48E0-929D-5904-B4E290DF3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EBA76A3-5E2F-29EA-8F20-69D7B917D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98E3-FC49-CD49-B2CF-15C0F262321E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D233976-A442-0AB6-C060-24F6E8361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6C0CF5-7D3B-B890-48C0-402146578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2F18-06FC-8345-B26A-8EA88E95B5A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63875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78004C8-9E78-398B-4801-264625D11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98E3-FC49-CD49-B2CF-15C0F262321E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E43D34D-80A5-2080-3185-86E028294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2824EA-0F83-C7D0-9FEB-C12B2FDFE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2F18-06FC-8345-B26A-8EA88E95B5A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93786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DC2AAF-F416-778E-B682-8A4C0CD13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4CE0B1-5EDB-B7BE-482F-6CBAFD435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6A255D-0C7B-05BD-D264-F1210ED76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CA2B06-45A7-1212-A26F-F240CDB57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98E3-FC49-CD49-B2CF-15C0F262321E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12F53B-FF20-6FD5-4227-5DF04957D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4A2287-EB9A-93D1-DBAA-4D1AAEB3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2F18-06FC-8345-B26A-8EA88E95B5A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28999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D508A-AFFA-37E9-42FB-8E64C291C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8CD32A2-9FBD-BBF4-0CD3-828D188A40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3C944B-8BB1-E057-56D0-221596B49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34FE22-0E49-F2D8-9F2B-B16E39680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98E3-FC49-CD49-B2CF-15C0F262321E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F473EAF-3FF2-22E5-3F8E-915FE576C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F130CB-B6D1-1754-617D-ACA9D7247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2F18-06FC-8345-B26A-8EA88E95B5A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63031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61E67D-AF17-AF29-2A87-8BFB2EEC2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907FC21-76F1-462A-113F-9DDA81986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204235-A617-8060-C5E2-E8D9E6949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98E3-FC49-CD49-B2CF-15C0F262321E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D799F2-BE1B-91AA-50B0-5A3BBD4B4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83E57A-D012-FBE0-DE84-0B66CFB31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2F18-06FC-8345-B26A-8EA88E95B5A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61357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E222A1-88C2-88AC-E06A-139119ADC6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E89E84-A30A-2BB0-DEEB-348C72E75C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AF66D0-0446-A690-F681-78DB2CAE6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C98E3-FC49-CD49-B2CF-15C0F262321E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41C6DD-2CB4-4BEF-685E-8C311F301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08BF87-614F-7F2B-2BC5-3300DAC24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2F18-06FC-8345-B26A-8EA88E95B5A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70236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51C60E2-FF59-0C49-B8CA-11CBC2E73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B38DE4-B6A6-8237-2095-0DBF9CD51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426614-3EE9-821A-0933-D5BEB66840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2C98E3-FC49-CD49-B2CF-15C0F262321E}" type="datetimeFigureOut">
              <a:rPr kumimoji="1" lang="ko-KR" altLang="en-US" smtClean="0"/>
              <a:t>2026. 1. 30.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06127-2B89-29ED-717A-9928C47C9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756B60-1E3A-BD21-5244-1AB3C0F773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7B2F18-06FC-8345-B26A-8EA88E95B5A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07498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B8E5AB-4C12-1BFB-79D4-FE2B02548A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/>
              <a:t>화면 설계서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727DF75-540C-1C4C-417B-40AC0AED93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ko-KR" dirty="0"/>
              <a:t>1</a:t>
            </a:r>
            <a:r>
              <a:rPr kumimoji="1" lang="ko-KR" altLang="en-US" dirty="0"/>
              <a:t>팀 학사 관리 시스템</a:t>
            </a:r>
            <a:endParaRPr kumimoji="1" lang="en-US" altLang="ko-KR" dirty="0"/>
          </a:p>
          <a:p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3984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4E059-795D-FBC0-8BA5-F820D8F93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23C94-2956-27AB-4C57-F5EB51E0B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08971"/>
            <a:ext cx="9144000" cy="2387600"/>
          </a:xfrm>
        </p:spPr>
        <p:txBody>
          <a:bodyPr/>
          <a:lstStyle/>
          <a:p>
            <a:r>
              <a:rPr kumimoji="1" lang="ko-KR" altLang="en-US" dirty="0"/>
              <a:t>로그인</a:t>
            </a:r>
          </a:p>
        </p:txBody>
      </p:sp>
    </p:spTree>
    <p:extLst>
      <p:ext uri="{BB962C8B-B14F-4D97-AF65-F5344CB8AC3E}">
        <p14:creationId xmlns:p14="http://schemas.microsoft.com/office/powerpoint/2010/main" val="2412654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D98A734-9C02-169A-94E9-96A5A60EF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3657"/>
            <a:ext cx="12192000" cy="573068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1F5B122-2E29-1361-026B-57F9693646CF}"/>
              </a:ext>
            </a:extLst>
          </p:cNvPr>
          <p:cNvSpPr txBox="1"/>
          <p:nvPr/>
        </p:nvSpPr>
        <p:spPr>
          <a:xfrm>
            <a:off x="9228667" y="2271089"/>
            <a:ext cx="40301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6686ED-57D1-2CB8-84A5-FC2FF6EC9C77}"/>
              </a:ext>
            </a:extLst>
          </p:cNvPr>
          <p:cNvSpPr txBox="1"/>
          <p:nvPr/>
        </p:nvSpPr>
        <p:spPr>
          <a:xfrm>
            <a:off x="3056468" y="5384733"/>
            <a:ext cx="64459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</a:rPr>
              <a:t>로그인 버튼 </a:t>
            </a:r>
            <a:r>
              <a:rPr lang="ko-KR" altLang="en-US" sz="2000" dirty="0" err="1">
                <a:solidFill>
                  <a:srgbClr val="FF0000"/>
                </a:solidFill>
              </a:rPr>
              <a:t>클릭시</a:t>
            </a:r>
            <a:r>
              <a:rPr lang="ko-KR" altLang="en-US" sz="2000" dirty="0">
                <a:solidFill>
                  <a:srgbClr val="FF0000"/>
                </a:solidFill>
              </a:rPr>
              <a:t> 로그인 정보 검증</a:t>
            </a:r>
            <a:r>
              <a:rPr lang="en-US" altLang="ko-KR" sz="2000" dirty="0">
                <a:solidFill>
                  <a:srgbClr val="FF0000"/>
                </a:solidFill>
              </a:rPr>
              <a:t>, </a:t>
            </a:r>
            <a:r>
              <a:rPr lang="ko-KR" altLang="en-US" sz="2000" dirty="0">
                <a:solidFill>
                  <a:srgbClr val="FF0000"/>
                </a:solidFill>
              </a:rPr>
              <a:t>시도횟수 증가</a:t>
            </a:r>
            <a:r>
              <a:rPr lang="en-US" altLang="ko-KR" sz="2000" dirty="0">
                <a:solidFill>
                  <a:srgbClr val="FF0000"/>
                </a:solidFill>
              </a:rPr>
              <a:t>, 5</a:t>
            </a:r>
            <a:r>
              <a:rPr lang="ko-KR" altLang="en-US" sz="2000" dirty="0">
                <a:solidFill>
                  <a:srgbClr val="FF0000"/>
                </a:solidFill>
              </a:rPr>
              <a:t>회시 잠금 처리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79D382E-1DCC-4C3F-074A-37C538A3D1E0}"/>
              </a:ext>
            </a:extLst>
          </p:cNvPr>
          <p:cNvSpPr/>
          <p:nvPr/>
        </p:nvSpPr>
        <p:spPr>
          <a:xfrm>
            <a:off x="2861734" y="5328595"/>
            <a:ext cx="6640689" cy="8714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FD14CF1A-AC6F-3E6F-2A67-32E732805B95}"/>
              </a:ext>
            </a:extLst>
          </p:cNvPr>
          <p:cNvCxnSpPr>
            <a:cxnSpLocks/>
          </p:cNvCxnSpPr>
          <p:nvPr/>
        </p:nvCxnSpPr>
        <p:spPr>
          <a:xfrm>
            <a:off x="4865511" y="4100052"/>
            <a:ext cx="0" cy="11156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DEC3EE31-DBC1-B2CA-1BEA-7C6D65A9F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639" y="1766791"/>
            <a:ext cx="2779069" cy="2618396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CA7FD5AF-5B3E-C73E-C0D1-EF894C717B65}"/>
              </a:ext>
            </a:extLst>
          </p:cNvPr>
          <p:cNvSpPr/>
          <p:nvPr/>
        </p:nvSpPr>
        <p:spPr>
          <a:xfrm>
            <a:off x="1628013" y="1879720"/>
            <a:ext cx="2393382" cy="2743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013526-7639-F8E1-1DF6-9C17B6AD93A7}"/>
              </a:ext>
            </a:extLst>
          </p:cNvPr>
          <p:cNvSpPr txBox="1"/>
          <p:nvPr/>
        </p:nvSpPr>
        <p:spPr>
          <a:xfrm>
            <a:off x="1628014" y="2245822"/>
            <a:ext cx="239338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rgbClr val="FF0000"/>
                </a:solidFill>
              </a:rPr>
              <a:t>비밀번호 초기화 창</a:t>
            </a:r>
            <a:br>
              <a:rPr lang="en-US" altLang="ko-KR" sz="2000" dirty="0">
                <a:solidFill>
                  <a:srgbClr val="FF0000"/>
                </a:solidFill>
              </a:rPr>
            </a:br>
            <a:br>
              <a:rPr lang="en-US" altLang="ko-KR" sz="2000" dirty="0">
                <a:solidFill>
                  <a:srgbClr val="FF0000"/>
                </a:solidFill>
              </a:rPr>
            </a:br>
            <a:r>
              <a:rPr lang="ko-KR" altLang="en-US" sz="2000" dirty="0">
                <a:solidFill>
                  <a:srgbClr val="FF0000"/>
                </a:solidFill>
              </a:rPr>
              <a:t>이메일</a:t>
            </a:r>
            <a:br>
              <a:rPr lang="en-US" altLang="ko-KR" sz="2000" dirty="0">
                <a:solidFill>
                  <a:srgbClr val="FF0000"/>
                </a:solidFill>
              </a:rPr>
            </a:br>
            <a:br>
              <a:rPr lang="en-US" altLang="ko-KR" sz="2000" dirty="0">
                <a:solidFill>
                  <a:srgbClr val="FF0000"/>
                </a:solidFill>
              </a:rPr>
            </a:br>
            <a:r>
              <a:rPr lang="ko-KR" altLang="en-US" sz="2000" dirty="0">
                <a:solidFill>
                  <a:srgbClr val="FF0000"/>
                </a:solidFill>
              </a:rPr>
              <a:t>생년월일</a:t>
            </a:r>
            <a:br>
              <a:rPr lang="en-US" altLang="ko-KR" sz="2000" dirty="0">
                <a:solidFill>
                  <a:srgbClr val="FF0000"/>
                </a:solidFill>
              </a:rPr>
            </a:br>
            <a:br>
              <a:rPr lang="en-US" altLang="ko-KR" sz="2000" dirty="0">
                <a:solidFill>
                  <a:srgbClr val="FF0000"/>
                </a:solidFill>
              </a:rPr>
            </a:br>
            <a:r>
              <a:rPr lang="ko-KR" altLang="en-US" sz="2000" dirty="0">
                <a:solidFill>
                  <a:srgbClr val="FF0000"/>
                </a:solidFill>
              </a:rPr>
              <a:t>초기화 버튼</a:t>
            </a:r>
          </a:p>
        </p:txBody>
      </p:sp>
    </p:spTree>
    <p:extLst>
      <p:ext uri="{BB962C8B-B14F-4D97-AF65-F5344CB8AC3E}">
        <p14:creationId xmlns:p14="http://schemas.microsoft.com/office/powerpoint/2010/main" val="141286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1EFE9-0417-1C23-FD15-1DEAF9F50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CF383F8-33F5-9B7F-E677-1444B3F74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7774"/>
            <a:ext cx="12192000" cy="57624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275CEC9-461B-5AA7-195E-806D85FD4054}"/>
              </a:ext>
            </a:extLst>
          </p:cNvPr>
          <p:cNvSpPr txBox="1"/>
          <p:nvPr/>
        </p:nvSpPr>
        <p:spPr>
          <a:xfrm>
            <a:off x="9228667" y="2271089"/>
            <a:ext cx="40301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2000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9F689D-5DD5-99F6-ECAB-DE9CB70B2FC3}"/>
              </a:ext>
            </a:extLst>
          </p:cNvPr>
          <p:cNvSpPr txBox="1"/>
          <p:nvPr/>
        </p:nvSpPr>
        <p:spPr>
          <a:xfrm>
            <a:off x="3056469" y="5384733"/>
            <a:ext cx="1377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</a:rPr>
              <a:t>정보 입력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9142DDF-B599-A0B0-AE92-5F1E7C0B9619}"/>
              </a:ext>
            </a:extLst>
          </p:cNvPr>
          <p:cNvSpPr/>
          <p:nvPr/>
        </p:nvSpPr>
        <p:spPr>
          <a:xfrm>
            <a:off x="2861735" y="5328595"/>
            <a:ext cx="1720098" cy="8714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6D7445F5-A452-128E-A91E-EB3521ABBFDA}"/>
              </a:ext>
            </a:extLst>
          </p:cNvPr>
          <p:cNvCxnSpPr>
            <a:cxnSpLocks/>
          </p:cNvCxnSpPr>
          <p:nvPr/>
        </p:nvCxnSpPr>
        <p:spPr>
          <a:xfrm flipH="1">
            <a:off x="4432892" y="4657879"/>
            <a:ext cx="1457" cy="67071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D52B5ECB-41A0-3F95-56A9-5FF9C0CD1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945" y="1019385"/>
            <a:ext cx="4030133" cy="507498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FF16FAD7-299C-FFDA-5F1C-9718B31F41D6}"/>
              </a:ext>
            </a:extLst>
          </p:cNvPr>
          <p:cNvSpPr/>
          <p:nvPr/>
        </p:nvSpPr>
        <p:spPr>
          <a:xfrm>
            <a:off x="2267110" y="1914679"/>
            <a:ext cx="3671574" cy="2743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AAA336E-9E7B-BD15-A590-9BAC21916DC1}"/>
              </a:ext>
            </a:extLst>
          </p:cNvPr>
          <p:cNvSpPr/>
          <p:nvPr/>
        </p:nvSpPr>
        <p:spPr>
          <a:xfrm>
            <a:off x="10451624" y="1914679"/>
            <a:ext cx="1474905" cy="28343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83BCA8-874B-B882-C244-9F8161671387}"/>
              </a:ext>
            </a:extLst>
          </p:cNvPr>
          <p:cNvSpPr txBox="1"/>
          <p:nvPr/>
        </p:nvSpPr>
        <p:spPr>
          <a:xfrm>
            <a:off x="7944465" y="5441688"/>
            <a:ext cx="37537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</a:rPr>
              <a:t>중복확인 후 등록 버튼 활성화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6236BCB-7795-51A7-85F8-DF3B587DE19E}"/>
              </a:ext>
            </a:extLst>
          </p:cNvPr>
          <p:cNvSpPr/>
          <p:nvPr/>
        </p:nvSpPr>
        <p:spPr>
          <a:xfrm>
            <a:off x="7757653" y="5159568"/>
            <a:ext cx="4127363" cy="8714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8BBB665-5DCD-B7D6-7545-FC9996EF486E}"/>
              </a:ext>
            </a:extLst>
          </p:cNvPr>
          <p:cNvCxnSpPr>
            <a:cxnSpLocks/>
          </p:cNvCxnSpPr>
          <p:nvPr/>
        </p:nvCxnSpPr>
        <p:spPr>
          <a:xfrm>
            <a:off x="10592801" y="4748981"/>
            <a:ext cx="0" cy="40281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8968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9E24E-8992-F5B9-9D92-F8F9A8F82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72B80F-834D-C2AE-7EAC-7A48230A65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08971"/>
            <a:ext cx="9144000" cy="2387600"/>
          </a:xfrm>
        </p:spPr>
        <p:txBody>
          <a:bodyPr/>
          <a:lstStyle/>
          <a:p>
            <a:r>
              <a:rPr kumimoji="1" lang="ko-KR" altLang="en-US" dirty="0"/>
              <a:t>관리자 화면</a:t>
            </a:r>
          </a:p>
        </p:txBody>
      </p:sp>
    </p:spTree>
    <p:extLst>
      <p:ext uri="{BB962C8B-B14F-4D97-AF65-F5344CB8AC3E}">
        <p14:creationId xmlns:p14="http://schemas.microsoft.com/office/powerpoint/2010/main" val="4209593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795E7444-D3D2-B560-87C0-374AEF41C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6968"/>
            <a:ext cx="12192000" cy="618406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A013526-7639-F8E1-1DF6-9C17B6AD93A7}"/>
              </a:ext>
            </a:extLst>
          </p:cNvPr>
          <p:cNvSpPr txBox="1"/>
          <p:nvPr/>
        </p:nvSpPr>
        <p:spPr>
          <a:xfrm>
            <a:off x="3285067" y="2378811"/>
            <a:ext cx="40301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</a:rPr>
              <a:t>학사 일정이 </a:t>
            </a:r>
            <a:r>
              <a:rPr lang="ko-KR" altLang="en-US" sz="2000" dirty="0" err="1">
                <a:solidFill>
                  <a:srgbClr val="FF0000"/>
                </a:solidFill>
              </a:rPr>
              <a:t>적혀있는</a:t>
            </a:r>
            <a:r>
              <a:rPr lang="ko-KR" altLang="en-US" sz="2000" dirty="0">
                <a:solidFill>
                  <a:srgbClr val="FF0000"/>
                </a:solidFill>
              </a:rPr>
              <a:t> 달력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F5B122-2E29-1361-026B-57F9693646CF}"/>
              </a:ext>
            </a:extLst>
          </p:cNvPr>
          <p:cNvSpPr txBox="1"/>
          <p:nvPr/>
        </p:nvSpPr>
        <p:spPr>
          <a:xfrm>
            <a:off x="9228667" y="2271089"/>
            <a:ext cx="40301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</a:rPr>
              <a:t>해당 달의 일정이</a:t>
            </a:r>
            <a:endParaRPr lang="en-US" altLang="ko-KR" sz="2000" dirty="0">
              <a:solidFill>
                <a:srgbClr val="FF0000"/>
              </a:solidFill>
            </a:endParaRPr>
          </a:p>
          <a:p>
            <a:r>
              <a:rPr lang="ko-KR" altLang="en-US" sz="2000" dirty="0">
                <a:solidFill>
                  <a:srgbClr val="FF0000"/>
                </a:solidFill>
              </a:rPr>
              <a:t>문자로 정리되어</a:t>
            </a:r>
            <a:endParaRPr lang="en-US" altLang="ko-KR" sz="2000" dirty="0">
              <a:solidFill>
                <a:srgbClr val="FF0000"/>
              </a:solidFill>
            </a:endParaRPr>
          </a:p>
          <a:p>
            <a:r>
              <a:rPr lang="ko-KR" altLang="en-US" sz="2000" dirty="0">
                <a:solidFill>
                  <a:srgbClr val="FF0000"/>
                </a:solidFill>
              </a:rPr>
              <a:t>있는</a:t>
            </a:r>
            <a:r>
              <a:rPr lang="en-US" altLang="ko-KR" sz="2000" dirty="0">
                <a:solidFill>
                  <a:srgbClr val="FF0000"/>
                </a:solidFill>
              </a:rPr>
              <a:t> </a:t>
            </a:r>
            <a:r>
              <a:rPr lang="ko-KR" altLang="en-US" sz="2000" dirty="0">
                <a:solidFill>
                  <a:srgbClr val="FF0000"/>
                </a:solidFill>
              </a:rPr>
              <a:t>리스트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6686ED-57D1-2CB8-84A5-FC2FF6EC9C77}"/>
              </a:ext>
            </a:extLst>
          </p:cNvPr>
          <p:cNvSpPr txBox="1"/>
          <p:nvPr/>
        </p:nvSpPr>
        <p:spPr>
          <a:xfrm>
            <a:off x="3056468" y="5328595"/>
            <a:ext cx="64459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</a:rPr>
              <a:t>특정 일정 </a:t>
            </a:r>
            <a:r>
              <a:rPr lang="ko-KR" altLang="en-US" sz="2000" dirty="0" err="1">
                <a:solidFill>
                  <a:srgbClr val="FF0000"/>
                </a:solidFill>
              </a:rPr>
              <a:t>클릭시</a:t>
            </a:r>
            <a:r>
              <a:rPr lang="ko-KR" altLang="en-US" sz="2000" dirty="0">
                <a:solidFill>
                  <a:srgbClr val="FF0000"/>
                </a:solidFill>
              </a:rPr>
              <a:t> 상세 일정이 여기에 나타남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A7FD5AF-5B3E-C73E-C0D1-EF894C717B65}"/>
              </a:ext>
            </a:extLst>
          </p:cNvPr>
          <p:cNvSpPr/>
          <p:nvPr/>
        </p:nvSpPr>
        <p:spPr>
          <a:xfrm>
            <a:off x="2427111" y="1919111"/>
            <a:ext cx="6050845" cy="2743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28F5E74-4271-74DF-EAC4-C81D6A91141A}"/>
              </a:ext>
            </a:extLst>
          </p:cNvPr>
          <p:cNvSpPr/>
          <p:nvPr/>
        </p:nvSpPr>
        <p:spPr>
          <a:xfrm>
            <a:off x="8873067" y="1915152"/>
            <a:ext cx="3005667" cy="20020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79D382E-1DCC-4C3F-074A-37C538A3D1E0}"/>
              </a:ext>
            </a:extLst>
          </p:cNvPr>
          <p:cNvSpPr/>
          <p:nvPr/>
        </p:nvSpPr>
        <p:spPr>
          <a:xfrm>
            <a:off x="2861734" y="5328595"/>
            <a:ext cx="8359422" cy="4001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FD14CF1A-AC6F-3E6F-2A67-32E732805B95}"/>
              </a:ext>
            </a:extLst>
          </p:cNvPr>
          <p:cNvCxnSpPr>
            <a:cxnSpLocks/>
          </p:cNvCxnSpPr>
          <p:nvPr/>
        </p:nvCxnSpPr>
        <p:spPr>
          <a:xfrm>
            <a:off x="4865511" y="3917244"/>
            <a:ext cx="0" cy="129846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7641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40F34EF0-D9D2-2556-E26F-606A6BB32C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6968"/>
            <a:ext cx="12192000" cy="61840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16556D-1AA2-521B-83FA-B9EA60BADD66}"/>
              </a:ext>
            </a:extLst>
          </p:cNvPr>
          <p:cNvSpPr txBox="1"/>
          <p:nvPr/>
        </p:nvSpPr>
        <p:spPr>
          <a:xfrm>
            <a:off x="4423832" y="4715612"/>
            <a:ext cx="53706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</a:rPr>
              <a:t>수강 상태인 강의 목록</a:t>
            </a:r>
            <a:r>
              <a:rPr lang="en-US" altLang="ko-KR" sz="2000" dirty="0">
                <a:solidFill>
                  <a:srgbClr val="FF0000"/>
                </a:solidFill>
              </a:rPr>
              <a:t>. </a:t>
            </a:r>
          </a:p>
          <a:p>
            <a:r>
              <a:rPr lang="ko-KR" altLang="en-US" sz="2000" dirty="0" err="1">
                <a:solidFill>
                  <a:srgbClr val="FF0000"/>
                </a:solidFill>
              </a:rPr>
              <a:t>클릭시</a:t>
            </a:r>
            <a:r>
              <a:rPr lang="ko-KR" altLang="en-US" sz="2000" dirty="0">
                <a:solidFill>
                  <a:srgbClr val="FF0000"/>
                </a:solidFill>
              </a:rPr>
              <a:t> 해당 강의 상세 페이지로 이동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58E3FF2-AF9C-41FF-092D-BA64826416FD}"/>
              </a:ext>
            </a:extLst>
          </p:cNvPr>
          <p:cNvSpPr/>
          <p:nvPr/>
        </p:nvSpPr>
        <p:spPr>
          <a:xfrm>
            <a:off x="2274710" y="1298222"/>
            <a:ext cx="9668934" cy="15804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9383107-F838-7F27-9492-3CACB57581C0}"/>
              </a:ext>
            </a:extLst>
          </p:cNvPr>
          <p:cNvSpPr/>
          <p:nvPr/>
        </p:nvSpPr>
        <p:spPr>
          <a:xfrm>
            <a:off x="2274710" y="3979334"/>
            <a:ext cx="9668934" cy="24327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43790F-CEA3-75A8-E61B-3DD08CB82B8E}"/>
              </a:ext>
            </a:extLst>
          </p:cNvPr>
          <p:cNvSpPr txBox="1"/>
          <p:nvPr/>
        </p:nvSpPr>
        <p:spPr>
          <a:xfrm>
            <a:off x="5693832" y="898112"/>
            <a:ext cx="53706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</a:rPr>
              <a:t>수강 신청 전체 통계</a:t>
            </a:r>
          </a:p>
        </p:txBody>
      </p:sp>
    </p:spTree>
    <p:extLst>
      <p:ext uri="{BB962C8B-B14F-4D97-AF65-F5344CB8AC3E}">
        <p14:creationId xmlns:p14="http://schemas.microsoft.com/office/powerpoint/2010/main" val="3494700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B511F02-D204-9A5C-BF8B-FDA6D6D3A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6968"/>
            <a:ext cx="12192000" cy="61840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CF2203-0508-A014-E748-020354AD116A}"/>
              </a:ext>
            </a:extLst>
          </p:cNvPr>
          <p:cNvSpPr txBox="1"/>
          <p:nvPr/>
        </p:nvSpPr>
        <p:spPr>
          <a:xfrm>
            <a:off x="4133848" y="3228945"/>
            <a:ext cx="5950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</a:rPr>
              <a:t>강의 개설 요청 대기 리스트</a:t>
            </a:r>
            <a:r>
              <a:rPr lang="en-US" altLang="ko-KR" sz="2000" dirty="0">
                <a:solidFill>
                  <a:srgbClr val="FF0000"/>
                </a:solidFill>
              </a:rPr>
              <a:t>. </a:t>
            </a:r>
            <a:r>
              <a:rPr lang="ko-KR" altLang="en-US" sz="2000" dirty="0">
                <a:solidFill>
                  <a:srgbClr val="FF0000"/>
                </a:solidFill>
              </a:rPr>
              <a:t>승낙 및 반려 기능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BCE3A42-A72A-AF10-CCB3-48741A601CA5}"/>
              </a:ext>
            </a:extLst>
          </p:cNvPr>
          <p:cNvSpPr/>
          <p:nvPr/>
        </p:nvSpPr>
        <p:spPr>
          <a:xfrm>
            <a:off x="2274710" y="2257779"/>
            <a:ext cx="9668934" cy="2743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96C2F57-B19D-71DC-9B91-FDE7073EC8FE}"/>
              </a:ext>
            </a:extLst>
          </p:cNvPr>
          <p:cNvSpPr/>
          <p:nvPr/>
        </p:nvSpPr>
        <p:spPr>
          <a:xfrm>
            <a:off x="2274710" y="5362222"/>
            <a:ext cx="9668934" cy="11588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1E187F-E6E8-582E-AC0A-72A63B794364}"/>
              </a:ext>
            </a:extLst>
          </p:cNvPr>
          <p:cNvSpPr txBox="1"/>
          <p:nvPr/>
        </p:nvSpPr>
        <p:spPr>
          <a:xfrm>
            <a:off x="5168899" y="5757979"/>
            <a:ext cx="53706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solidFill>
                  <a:srgbClr val="FF0000"/>
                </a:solidFill>
              </a:rPr>
              <a:t>승낙 및 반려 된 요청 리스트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3981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7BC0990-38F2-965A-EECE-92D324EF2C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6968"/>
            <a:ext cx="12192000" cy="61840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56C72C-E6BD-04FF-87EE-F5B7C7B1B8EA}"/>
              </a:ext>
            </a:extLst>
          </p:cNvPr>
          <p:cNvSpPr txBox="1"/>
          <p:nvPr/>
        </p:nvSpPr>
        <p:spPr>
          <a:xfrm>
            <a:off x="2553403" y="2088768"/>
            <a:ext cx="5950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</a:rPr>
              <a:t>모든 학과 목록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C9C1DC-21AD-4338-70A3-0A1BCD0E9C6C}"/>
              </a:ext>
            </a:extLst>
          </p:cNvPr>
          <p:cNvSpPr/>
          <p:nvPr/>
        </p:nvSpPr>
        <p:spPr>
          <a:xfrm>
            <a:off x="2472267" y="1478844"/>
            <a:ext cx="2054578" cy="46397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AB396FC-6062-67FC-4C31-DBE5BF683895}"/>
              </a:ext>
            </a:extLst>
          </p:cNvPr>
          <p:cNvSpPr/>
          <p:nvPr/>
        </p:nvSpPr>
        <p:spPr>
          <a:xfrm>
            <a:off x="4944533" y="2613377"/>
            <a:ext cx="3172177" cy="17557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5FD412D-138F-B947-3772-74A283AC1EFB}"/>
              </a:ext>
            </a:extLst>
          </p:cNvPr>
          <p:cNvSpPr/>
          <p:nvPr/>
        </p:nvSpPr>
        <p:spPr>
          <a:xfrm>
            <a:off x="8534398" y="2613376"/>
            <a:ext cx="3141839" cy="17557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0EB3FBC-504A-19BB-0736-BF71CD58D526}"/>
              </a:ext>
            </a:extLst>
          </p:cNvPr>
          <p:cNvSpPr/>
          <p:nvPr/>
        </p:nvSpPr>
        <p:spPr>
          <a:xfrm>
            <a:off x="4944533" y="4933244"/>
            <a:ext cx="6731704" cy="11853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B30F19-4FEA-15E3-8A4B-41274447F89E}"/>
              </a:ext>
            </a:extLst>
          </p:cNvPr>
          <p:cNvSpPr txBox="1"/>
          <p:nvPr/>
        </p:nvSpPr>
        <p:spPr>
          <a:xfrm>
            <a:off x="4944533" y="3116225"/>
            <a:ext cx="59506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</a:rPr>
              <a:t>해당 학과 교수 목록</a:t>
            </a:r>
            <a:endParaRPr lang="en-US" altLang="ko-KR" sz="2000" dirty="0">
              <a:solidFill>
                <a:srgbClr val="FF0000"/>
              </a:solidFill>
            </a:endParaRPr>
          </a:p>
          <a:p>
            <a:r>
              <a:rPr lang="ko-KR" altLang="en-US" sz="2000" dirty="0" err="1">
                <a:solidFill>
                  <a:srgbClr val="FF0000"/>
                </a:solidFill>
              </a:rPr>
              <a:t>클릭시</a:t>
            </a:r>
            <a:r>
              <a:rPr lang="ko-KR" altLang="en-US" sz="2000" dirty="0">
                <a:solidFill>
                  <a:srgbClr val="FF0000"/>
                </a:solidFill>
              </a:rPr>
              <a:t> 상세 페이지로 이동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D3F607E-E3DF-E02F-82CE-6E49CAEF05B8}"/>
              </a:ext>
            </a:extLst>
          </p:cNvPr>
          <p:cNvSpPr/>
          <p:nvPr/>
        </p:nvSpPr>
        <p:spPr>
          <a:xfrm>
            <a:off x="4719816" y="1337733"/>
            <a:ext cx="7189961" cy="49727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BB113D7-2B5F-33D0-6187-E8B0E2AAA08C}"/>
              </a:ext>
            </a:extLst>
          </p:cNvPr>
          <p:cNvCxnSpPr>
            <a:cxnSpLocks/>
          </p:cNvCxnSpPr>
          <p:nvPr/>
        </p:nvCxnSpPr>
        <p:spPr>
          <a:xfrm>
            <a:off x="3522133" y="3091139"/>
            <a:ext cx="119768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4344D72-2E7F-3C25-1232-CB5441B01F87}"/>
              </a:ext>
            </a:extLst>
          </p:cNvPr>
          <p:cNvSpPr txBox="1"/>
          <p:nvPr/>
        </p:nvSpPr>
        <p:spPr>
          <a:xfrm>
            <a:off x="8504060" y="3147124"/>
            <a:ext cx="59506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</a:rPr>
              <a:t>해당 학과 학생 목록</a:t>
            </a:r>
            <a:endParaRPr lang="en-US" altLang="ko-KR" sz="2000" dirty="0">
              <a:solidFill>
                <a:srgbClr val="FF0000"/>
              </a:solidFill>
            </a:endParaRPr>
          </a:p>
          <a:p>
            <a:r>
              <a:rPr lang="ko-KR" altLang="en-US" sz="2000" dirty="0" err="1">
                <a:solidFill>
                  <a:srgbClr val="FF0000"/>
                </a:solidFill>
              </a:rPr>
              <a:t>클릭시</a:t>
            </a:r>
            <a:r>
              <a:rPr lang="ko-KR" altLang="en-US" sz="2000" dirty="0">
                <a:solidFill>
                  <a:srgbClr val="FF0000"/>
                </a:solidFill>
              </a:rPr>
              <a:t> 상세 페이지로 이동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258350-404D-5132-51D2-28E20D47230B}"/>
              </a:ext>
            </a:extLst>
          </p:cNvPr>
          <p:cNvSpPr txBox="1"/>
          <p:nvPr/>
        </p:nvSpPr>
        <p:spPr>
          <a:xfrm>
            <a:off x="6847766" y="5166324"/>
            <a:ext cx="59506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</a:rPr>
              <a:t>해당 학과 강의 목록</a:t>
            </a:r>
            <a:endParaRPr lang="en-US" altLang="ko-KR" sz="2000" dirty="0">
              <a:solidFill>
                <a:srgbClr val="FF0000"/>
              </a:solidFill>
            </a:endParaRPr>
          </a:p>
          <a:p>
            <a:r>
              <a:rPr lang="ko-KR" altLang="en-US" sz="2000" dirty="0" err="1">
                <a:solidFill>
                  <a:srgbClr val="FF0000"/>
                </a:solidFill>
              </a:rPr>
              <a:t>클릭시</a:t>
            </a:r>
            <a:r>
              <a:rPr lang="ko-KR" altLang="en-US" sz="2000" dirty="0">
                <a:solidFill>
                  <a:srgbClr val="FF0000"/>
                </a:solidFill>
              </a:rPr>
              <a:t> 상세 페이지로 이동</a:t>
            </a:r>
          </a:p>
        </p:txBody>
      </p:sp>
    </p:spTree>
    <p:extLst>
      <p:ext uri="{BB962C8B-B14F-4D97-AF65-F5344CB8AC3E}">
        <p14:creationId xmlns:p14="http://schemas.microsoft.com/office/powerpoint/2010/main" val="4260097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15903-48FF-A9E7-CA85-FA7841A28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9B4788-F923-12A7-351E-3F817C3A9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08971"/>
            <a:ext cx="9144000" cy="2387600"/>
          </a:xfrm>
        </p:spPr>
        <p:txBody>
          <a:bodyPr/>
          <a:lstStyle/>
          <a:p>
            <a:r>
              <a:rPr kumimoji="1" lang="ko-KR" altLang="en-US" dirty="0"/>
              <a:t>교수 화면</a:t>
            </a:r>
          </a:p>
        </p:txBody>
      </p:sp>
    </p:spTree>
    <p:extLst>
      <p:ext uri="{BB962C8B-B14F-4D97-AF65-F5344CB8AC3E}">
        <p14:creationId xmlns:p14="http://schemas.microsoft.com/office/powerpoint/2010/main" val="3326734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836621-A1EB-8408-48A3-F711EAB5D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808" y="275438"/>
            <a:ext cx="10515600" cy="1325563"/>
          </a:xfrm>
        </p:spPr>
        <p:txBody>
          <a:bodyPr/>
          <a:lstStyle/>
          <a:p>
            <a:r>
              <a:rPr kumimoji="1" lang="ko-KR" altLang="en-US" dirty="0"/>
              <a:t>내 강의 목록</a:t>
            </a:r>
            <a:br>
              <a:rPr kumimoji="1" lang="en-US" altLang="ko-KR" dirty="0"/>
            </a:br>
            <a:endParaRPr kumimoji="1" lang="ko-KR" altLang="en-US" dirty="0"/>
          </a:p>
        </p:txBody>
      </p:sp>
      <p:pic>
        <p:nvPicPr>
          <p:cNvPr id="7" name="그림 6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87FFBD-D626-381F-97C7-96DCD0C42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85" y="1106311"/>
            <a:ext cx="11191051" cy="538656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F88E0F7-75D8-A963-733B-5021F2018A29}"/>
              </a:ext>
            </a:extLst>
          </p:cNvPr>
          <p:cNvSpPr/>
          <p:nvPr/>
        </p:nvSpPr>
        <p:spPr>
          <a:xfrm>
            <a:off x="10180556" y="1601001"/>
            <a:ext cx="1264062" cy="457891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8D23FB3-77CF-0894-4E7D-C7B6C33333A7}"/>
              </a:ext>
            </a:extLst>
          </p:cNvPr>
          <p:cNvSpPr/>
          <p:nvPr/>
        </p:nvSpPr>
        <p:spPr>
          <a:xfrm>
            <a:off x="2340430" y="2174014"/>
            <a:ext cx="9013370" cy="3124562"/>
          </a:xfrm>
          <a:prstGeom prst="rect">
            <a:avLst/>
          </a:prstGeom>
          <a:solidFill>
            <a:srgbClr val="F8F9FA"/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rgbClr val="FF0000"/>
                </a:solidFill>
              </a:rPr>
              <a:t>교수가 담당하는 강의 목록 리스트 </a:t>
            </a:r>
            <a:endParaRPr kumimoji="1" lang="en-US" altLang="ko-KR" dirty="0">
              <a:solidFill>
                <a:srgbClr val="FF0000"/>
              </a:solidFill>
            </a:endParaRPr>
          </a:p>
          <a:p>
            <a:pPr algn="ctr"/>
            <a:r>
              <a:rPr kumimoji="1" lang="ko-KR" altLang="en-US" dirty="0">
                <a:solidFill>
                  <a:srgbClr val="FF0000"/>
                </a:solidFill>
              </a:rPr>
              <a:t>강의의 상태에 따라 조회 가능</a:t>
            </a:r>
            <a:endParaRPr kumimoji="1" lang="en-US" altLang="ko-KR" dirty="0">
              <a:solidFill>
                <a:srgbClr val="FF0000"/>
              </a:solidFill>
            </a:endParaRPr>
          </a:p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(</a:t>
            </a:r>
            <a:r>
              <a:rPr kumimoji="1" lang="ko-KR" altLang="en-US" dirty="0">
                <a:solidFill>
                  <a:srgbClr val="FF0000"/>
                </a:solidFill>
              </a:rPr>
              <a:t>요청</a:t>
            </a:r>
            <a:r>
              <a:rPr kumimoji="1" lang="en-US" altLang="ko-KR" dirty="0">
                <a:solidFill>
                  <a:srgbClr val="FF0000"/>
                </a:solidFill>
              </a:rPr>
              <a:t>/</a:t>
            </a:r>
            <a:r>
              <a:rPr kumimoji="1" lang="ko-KR" altLang="en-US" dirty="0">
                <a:solidFill>
                  <a:srgbClr val="FF0000"/>
                </a:solidFill>
              </a:rPr>
              <a:t>진행</a:t>
            </a:r>
            <a:r>
              <a:rPr kumimoji="1" lang="en-US" altLang="ko-KR" dirty="0">
                <a:solidFill>
                  <a:srgbClr val="FF0000"/>
                </a:solidFill>
              </a:rPr>
              <a:t>/</a:t>
            </a:r>
            <a:r>
              <a:rPr kumimoji="1" lang="ko-KR" altLang="en-US" dirty="0">
                <a:solidFill>
                  <a:srgbClr val="FF0000"/>
                </a:solidFill>
              </a:rPr>
              <a:t>완료</a:t>
            </a:r>
            <a:r>
              <a:rPr kumimoji="1" lang="en-US" altLang="ko-KR" dirty="0">
                <a:solidFill>
                  <a:srgbClr val="FF0000"/>
                </a:solidFill>
              </a:rPr>
              <a:t>)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9D15062-9E1C-0674-912D-CC51FC7418CE}"/>
              </a:ext>
            </a:extLst>
          </p:cNvPr>
          <p:cNvCxnSpPr>
            <a:cxnSpLocks/>
          </p:cNvCxnSpPr>
          <p:nvPr/>
        </p:nvCxnSpPr>
        <p:spPr>
          <a:xfrm flipV="1">
            <a:off x="8862395" y="2221418"/>
            <a:ext cx="1318161" cy="124690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1048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041C3-59A3-9BA0-8128-C6B9F4EAB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7" y="207138"/>
            <a:ext cx="10515600" cy="1325563"/>
          </a:xfrm>
        </p:spPr>
        <p:txBody>
          <a:bodyPr/>
          <a:lstStyle/>
          <a:p>
            <a:r>
              <a:rPr kumimoji="1" lang="ko-KR" altLang="en-US" dirty="0"/>
              <a:t>강의 상세</a:t>
            </a:r>
          </a:p>
        </p:txBody>
      </p:sp>
      <p:pic>
        <p:nvPicPr>
          <p:cNvPr id="9" name="내용 개체 틀 8" descr="스크린샷, 텍스트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0524A6-1862-F3F7-BAA4-972DB67903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75681"/>
            <a:ext cx="10515600" cy="5061451"/>
          </a:xfr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71045585-0235-9410-282F-B3971D1BF788}"/>
              </a:ext>
            </a:extLst>
          </p:cNvPr>
          <p:cNvSpPr/>
          <p:nvPr/>
        </p:nvSpPr>
        <p:spPr>
          <a:xfrm>
            <a:off x="2726193" y="2422635"/>
            <a:ext cx="8360907" cy="4014497"/>
          </a:xfrm>
          <a:prstGeom prst="rect">
            <a:avLst/>
          </a:prstGeom>
          <a:solidFill>
            <a:srgbClr val="F8F9FA"/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rgbClr val="FF0000"/>
                </a:solidFill>
              </a:rPr>
              <a:t>강의 상세 화면</a:t>
            </a:r>
            <a:endParaRPr kumimoji="1" lang="en-US" altLang="ko-KR" dirty="0">
              <a:solidFill>
                <a:srgbClr val="FF0000"/>
              </a:solidFill>
            </a:endParaRPr>
          </a:p>
          <a:p>
            <a:pPr algn="ctr"/>
            <a:r>
              <a:rPr kumimoji="1" lang="ko-KR" altLang="en-US" dirty="0">
                <a:solidFill>
                  <a:srgbClr val="FF0000"/>
                </a:solidFill>
              </a:rPr>
              <a:t>상단에 해당 강의에 대한 관리 가능</a:t>
            </a:r>
            <a:endParaRPr kumimoji="1" lang="en-US" altLang="ko-KR" dirty="0">
              <a:solidFill>
                <a:srgbClr val="FF0000"/>
              </a:solidFill>
            </a:endParaRPr>
          </a:p>
          <a:p>
            <a:pPr algn="ctr"/>
            <a:r>
              <a:rPr kumimoji="1" lang="ko-KR" altLang="en-US" dirty="0">
                <a:solidFill>
                  <a:srgbClr val="FF0000"/>
                </a:solidFill>
              </a:rPr>
              <a:t>상세 화면에는 강의 정보와 배점 정보 조회 가능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F928E8F-9992-A6D3-3FB5-F7D309563DAA}"/>
              </a:ext>
            </a:extLst>
          </p:cNvPr>
          <p:cNvSpPr/>
          <p:nvPr/>
        </p:nvSpPr>
        <p:spPr>
          <a:xfrm>
            <a:off x="1920958" y="1675315"/>
            <a:ext cx="8537492" cy="1325563"/>
          </a:xfrm>
          <a:prstGeom prst="rect">
            <a:avLst/>
          </a:prstGeom>
          <a:solidFill>
            <a:schemeClr val="bg1"/>
          </a:solidFill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3" name="그림 12" descr="텍스트, 스크린샷, 폰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06CB91-C70B-6212-8246-BD3C6D84A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958" y="1746511"/>
            <a:ext cx="8537492" cy="1191971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BC947BB-394D-6CC4-367C-02C88F1ECFE2}"/>
              </a:ext>
            </a:extLst>
          </p:cNvPr>
          <p:cNvCxnSpPr/>
          <p:nvPr/>
        </p:nvCxnSpPr>
        <p:spPr>
          <a:xfrm flipV="1">
            <a:off x="4900613" y="3214688"/>
            <a:ext cx="0" cy="108585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327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028C4C-096D-9013-7B49-172683C5C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2" y="193675"/>
            <a:ext cx="10515600" cy="1325563"/>
          </a:xfrm>
        </p:spPr>
        <p:txBody>
          <a:bodyPr/>
          <a:lstStyle/>
          <a:p>
            <a:r>
              <a:rPr kumimoji="1" lang="ko-KR" altLang="en-US" dirty="0"/>
              <a:t>강의 상세 </a:t>
            </a:r>
            <a:r>
              <a:rPr kumimoji="1" lang="en-US" altLang="ko-KR" dirty="0"/>
              <a:t>-</a:t>
            </a:r>
            <a:r>
              <a:rPr kumimoji="1" lang="ko-KR" altLang="en-US" dirty="0"/>
              <a:t> 출석</a:t>
            </a:r>
          </a:p>
        </p:txBody>
      </p:sp>
      <p:pic>
        <p:nvPicPr>
          <p:cNvPr id="5" name="내용 개체 틀 4" descr="스크린샷, 소프트웨어, 멀티미디어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580104-CE45-082E-4723-724409A09C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6697" y="1268411"/>
            <a:ext cx="10515600" cy="5061451"/>
          </a:xfr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98EC0C1-A688-D19C-D758-53F03F39AF6B}"/>
              </a:ext>
            </a:extLst>
          </p:cNvPr>
          <p:cNvSpPr/>
          <p:nvPr/>
        </p:nvSpPr>
        <p:spPr>
          <a:xfrm>
            <a:off x="2516331" y="2197783"/>
            <a:ext cx="8396508" cy="1325564"/>
          </a:xfrm>
          <a:prstGeom prst="rect">
            <a:avLst/>
          </a:prstGeom>
          <a:solidFill>
            <a:srgbClr val="F8F9FA"/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rgbClr val="FF0000"/>
                </a:solidFill>
              </a:rPr>
              <a:t>출석 탭 화면</a:t>
            </a:r>
            <a:endParaRPr kumimoji="1" lang="en-US" altLang="ko-KR" dirty="0">
              <a:solidFill>
                <a:srgbClr val="FF0000"/>
              </a:solidFill>
            </a:endParaRPr>
          </a:p>
          <a:p>
            <a:pPr algn="ctr"/>
            <a:r>
              <a:rPr kumimoji="1" lang="ko-KR" altLang="en-US" dirty="0">
                <a:solidFill>
                  <a:srgbClr val="FF0000"/>
                </a:solidFill>
              </a:rPr>
              <a:t>출석 버튼으로 출석 시작</a:t>
            </a:r>
            <a:endParaRPr kumimoji="1" lang="en-US" altLang="ko-KR" dirty="0">
              <a:solidFill>
                <a:srgbClr val="FF0000"/>
              </a:solidFill>
            </a:endParaRPr>
          </a:p>
          <a:p>
            <a:pPr algn="ctr"/>
            <a:r>
              <a:rPr kumimoji="1" lang="ko-KR" altLang="en-US" dirty="0" err="1">
                <a:solidFill>
                  <a:srgbClr val="FF0000"/>
                </a:solidFill>
              </a:rPr>
              <a:t>회차별</a:t>
            </a:r>
            <a:r>
              <a:rPr kumimoji="1" lang="ko-KR" altLang="en-US" dirty="0">
                <a:solidFill>
                  <a:srgbClr val="FF0000"/>
                </a:solidFill>
              </a:rPr>
              <a:t> 조회 가능</a:t>
            </a:r>
            <a:endParaRPr kumimoji="1" lang="en-US" altLang="ko-KR" dirty="0">
              <a:solidFill>
                <a:srgbClr val="FF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024251E-DC00-FAF0-DF20-BFFAEA7BC548}"/>
              </a:ext>
            </a:extLst>
          </p:cNvPr>
          <p:cNvSpPr/>
          <p:nvPr/>
        </p:nvSpPr>
        <p:spPr>
          <a:xfrm>
            <a:off x="2516331" y="3601040"/>
            <a:ext cx="8396508" cy="2589898"/>
          </a:xfrm>
          <a:prstGeom prst="rect">
            <a:avLst/>
          </a:prstGeom>
          <a:solidFill>
            <a:srgbClr val="F8F9FA"/>
          </a:solidFill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rgbClr val="FF0000"/>
                </a:solidFill>
              </a:rPr>
              <a:t>학생들 리스트로 출결 수정 가능</a:t>
            </a:r>
            <a:endParaRPr kumimoji="1" lang="en-US" altLang="ko-KR" dirty="0">
              <a:solidFill>
                <a:srgbClr val="FF0000"/>
              </a:solidFill>
            </a:endParaRPr>
          </a:p>
          <a:p>
            <a:pPr algn="ctr"/>
            <a:endParaRPr kumimoji="1" lang="ko-KR" altLang="en-US" dirty="0">
              <a:solidFill>
                <a:srgbClr val="FF0000"/>
              </a:solidFill>
            </a:endParaRPr>
          </a:p>
        </p:txBody>
      </p:sp>
      <p:pic>
        <p:nvPicPr>
          <p:cNvPr id="9" name="그림 8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8A44AF8-5826-1649-6DE1-7781FBA71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2503" y="3817719"/>
            <a:ext cx="2082800" cy="1270000"/>
          </a:xfrm>
          <a:prstGeom prst="rect">
            <a:avLst/>
          </a:prstGeom>
          <a:ln w="57150">
            <a:solidFill>
              <a:srgbClr val="FF0000"/>
            </a:solidFill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F6D97296-A9CE-D445-8486-36F33F904BCD}"/>
              </a:ext>
            </a:extLst>
          </p:cNvPr>
          <p:cNvSpPr/>
          <p:nvPr/>
        </p:nvSpPr>
        <p:spPr>
          <a:xfrm>
            <a:off x="2669316" y="3799136"/>
            <a:ext cx="3245181" cy="552537"/>
          </a:xfrm>
          <a:prstGeom prst="rect">
            <a:avLst/>
          </a:prstGeom>
          <a:solidFill>
            <a:srgbClr val="F8F9FA"/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rgbClr val="FF0000"/>
                </a:solidFill>
              </a:rPr>
              <a:t>이름 검색</a:t>
            </a:r>
            <a:endParaRPr kumimoji="1" lang="en-US" altLang="ko-KR" dirty="0">
              <a:solidFill>
                <a:srgbClr val="FF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5DF63D9-A8DA-29CE-8479-C05F6E63544B}"/>
              </a:ext>
            </a:extLst>
          </p:cNvPr>
          <p:cNvSpPr/>
          <p:nvPr/>
        </p:nvSpPr>
        <p:spPr>
          <a:xfrm>
            <a:off x="2669316" y="4452719"/>
            <a:ext cx="6523729" cy="1484943"/>
          </a:xfrm>
          <a:prstGeom prst="rect">
            <a:avLst/>
          </a:prstGeom>
          <a:solidFill>
            <a:srgbClr val="F8F9FA"/>
          </a:solidFill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rgbClr val="FF0000"/>
                </a:solidFill>
              </a:rPr>
              <a:t>학생 리스트에서 출결 확인 및 수정 가능</a:t>
            </a:r>
            <a:endParaRPr kumimoji="1" lang="en-US" altLang="ko-KR" dirty="0">
              <a:solidFill>
                <a:srgbClr val="FF0000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8EE1ABD-1986-95A7-237A-9EE5A0CB8A56}"/>
              </a:ext>
            </a:extLst>
          </p:cNvPr>
          <p:cNvCxnSpPr/>
          <p:nvPr/>
        </p:nvCxnSpPr>
        <p:spPr>
          <a:xfrm flipV="1">
            <a:off x="8087096" y="4191990"/>
            <a:ext cx="1793174" cy="771896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285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B0F0DD-4E86-691B-4C20-BEAC23CC2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43" y="140272"/>
            <a:ext cx="10515600" cy="1325563"/>
          </a:xfrm>
        </p:spPr>
        <p:txBody>
          <a:bodyPr/>
          <a:lstStyle/>
          <a:p>
            <a:r>
              <a:rPr kumimoji="1" lang="ko-KR" altLang="en-US" dirty="0"/>
              <a:t>강의 상세 </a:t>
            </a:r>
            <a:r>
              <a:rPr kumimoji="1" lang="en-US" altLang="ko-KR" dirty="0"/>
              <a:t>-</a:t>
            </a:r>
            <a:r>
              <a:rPr kumimoji="1" lang="ko-KR" altLang="en-US" dirty="0"/>
              <a:t> 성적</a:t>
            </a:r>
          </a:p>
        </p:txBody>
      </p:sp>
      <p:pic>
        <p:nvPicPr>
          <p:cNvPr id="5" name="내용 개체 틀 4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906659-477E-59E5-69C1-C5D9556BFE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0134" y="1208360"/>
            <a:ext cx="10351732" cy="4982577"/>
          </a:xfr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DF7B15A-A4E2-30C2-AAF8-1D4766374D38}"/>
              </a:ext>
            </a:extLst>
          </p:cNvPr>
          <p:cNvSpPr/>
          <p:nvPr/>
        </p:nvSpPr>
        <p:spPr>
          <a:xfrm>
            <a:off x="2666232" y="2052431"/>
            <a:ext cx="8486449" cy="1568519"/>
          </a:xfrm>
          <a:prstGeom prst="rect">
            <a:avLst/>
          </a:prstGeom>
          <a:solidFill>
            <a:srgbClr val="F8F9FA"/>
          </a:solidFill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rgbClr val="FF0000"/>
                </a:solidFill>
              </a:rPr>
              <a:t>성적 탭 화면 </a:t>
            </a:r>
            <a:endParaRPr kumimoji="1" lang="en-US" altLang="ko-KR" dirty="0">
              <a:solidFill>
                <a:srgbClr val="FF0000"/>
              </a:solidFill>
            </a:endParaRPr>
          </a:p>
          <a:p>
            <a:pPr algn="ctr"/>
            <a:r>
              <a:rPr kumimoji="1" lang="ko-KR" altLang="en-US" dirty="0">
                <a:solidFill>
                  <a:srgbClr val="FF0000"/>
                </a:solidFill>
              </a:rPr>
              <a:t>상단에 성적 입력 </a:t>
            </a:r>
            <a:r>
              <a:rPr kumimoji="1" lang="ko-KR" altLang="en-US" dirty="0" err="1">
                <a:solidFill>
                  <a:srgbClr val="FF0000"/>
                </a:solidFill>
              </a:rPr>
              <a:t>기간보여주기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C2B504E-DEC3-F7F5-D258-4316BCBAEAD9}"/>
              </a:ext>
            </a:extLst>
          </p:cNvPr>
          <p:cNvSpPr/>
          <p:nvPr/>
        </p:nvSpPr>
        <p:spPr>
          <a:xfrm>
            <a:off x="2666232" y="3699648"/>
            <a:ext cx="8486449" cy="2356378"/>
          </a:xfrm>
          <a:prstGeom prst="rect">
            <a:avLst/>
          </a:prstGeom>
          <a:solidFill>
            <a:srgbClr val="F8F9FA"/>
          </a:solidFill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rgbClr val="FF0000"/>
                </a:solidFill>
              </a:rPr>
              <a:t>출석</a:t>
            </a:r>
            <a:r>
              <a:rPr kumimoji="1" lang="en-US" altLang="ko-KR" dirty="0">
                <a:solidFill>
                  <a:srgbClr val="FF0000"/>
                </a:solidFill>
              </a:rPr>
              <a:t>,</a:t>
            </a:r>
            <a:r>
              <a:rPr kumimoji="1" lang="ko-KR" altLang="en-US" dirty="0">
                <a:solidFill>
                  <a:srgbClr val="FF0000"/>
                </a:solidFill>
              </a:rPr>
              <a:t> 과제</a:t>
            </a:r>
            <a:r>
              <a:rPr kumimoji="1" lang="en-US" altLang="ko-KR" dirty="0">
                <a:solidFill>
                  <a:srgbClr val="FF0000"/>
                </a:solidFill>
              </a:rPr>
              <a:t>,</a:t>
            </a:r>
            <a:r>
              <a:rPr kumimoji="1" lang="ko-KR" altLang="en-US" dirty="0">
                <a:solidFill>
                  <a:srgbClr val="FF0000"/>
                </a:solidFill>
              </a:rPr>
              <a:t> 중간</a:t>
            </a:r>
            <a:r>
              <a:rPr kumimoji="1" lang="en-US" altLang="ko-KR" dirty="0">
                <a:solidFill>
                  <a:srgbClr val="FF0000"/>
                </a:solidFill>
              </a:rPr>
              <a:t>,</a:t>
            </a:r>
            <a:r>
              <a:rPr kumimoji="1" lang="ko-KR" altLang="en-US" dirty="0">
                <a:solidFill>
                  <a:srgbClr val="FF0000"/>
                </a:solidFill>
              </a:rPr>
              <a:t> 기말 별로 점수 입력해서 저장하고 </a:t>
            </a:r>
            <a:endParaRPr kumimoji="1" lang="en-US" altLang="ko-KR" dirty="0">
              <a:solidFill>
                <a:srgbClr val="FF0000"/>
              </a:solidFill>
            </a:endParaRPr>
          </a:p>
          <a:p>
            <a:pPr algn="ctr"/>
            <a:r>
              <a:rPr kumimoji="1" lang="ko-KR" altLang="en-US" dirty="0">
                <a:solidFill>
                  <a:srgbClr val="FF0000"/>
                </a:solidFill>
              </a:rPr>
              <a:t>학점 계산도 진행</a:t>
            </a:r>
          </a:p>
        </p:txBody>
      </p:sp>
      <p:pic>
        <p:nvPicPr>
          <p:cNvPr id="9" name="그림 8" descr="폰트, 텍스트, 일렉트릭 블루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BB0FAB-A1DB-CAE5-CFED-73F21DE3D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997" y="3990538"/>
            <a:ext cx="2578100" cy="6985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11" name="그림 10" descr="텍스트, 폰트, 로고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AB7386-2D17-ADA6-6E55-1FE216B79C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2682" y="5138346"/>
            <a:ext cx="2456758" cy="656757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851746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85EB25-BFB3-1BA2-A2F5-AF68C8239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564" y="245204"/>
            <a:ext cx="10515600" cy="1325563"/>
          </a:xfrm>
        </p:spPr>
        <p:txBody>
          <a:bodyPr/>
          <a:lstStyle/>
          <a:p>
            <a:r>
              <a:rPr kumimoji="1" lang="ko-KR" altLang="en-US" dirty="0"/>
              <a:t>강의 상세 </a:t>
            </a:r>
            <a:r>
              <a:rPr kumimoji="1" lang="en-US" altLang="ko-KR" dirty="0"/>
              <a:t>-</a:t>
            </a:r>
            <a:r>
              <a:rPr kumimoji="1" lang="ko-KR" altLang="en-US" dirty="0"/>
              <a:t> 수강생</a:t>
            </a:r>
          </a:p>
        </p:txBody>
      </p:sp>
      <p:pic>
        <p:nvPicPr>
          <p:cNvPr id="5" name="내용 개체 틀 4" descr="텍스트, 번호, 소프트웨어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C5FB4F-7E3D-C2AC-7701-F12147CAC4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6352" y="1570767"/>
            <a:ext cx="10206409" cy="4912629"/>
          </a:xfr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3FD9D4A-4D52-3CA8-E691-9035A8B868FC}"/>
              </a:ext>
            </a:extLst>
          </p:cNvPr>
          <p:cNvSpPr/>
          <p:nvPr/>
        </p:nvSpPr>
        <p:spPr>
          <a:xfrm>
            <a:off x="2666232" y="2589726"/>
            <a:ext cx="8132932" cy="839274"/>
          </a:xfrm>
          <a:prstGeom prst="rect">
            <a:avLst/>
          </a:prstGeom>
          <a:solidFill>
            <a:srgbClr val="F8F9FA"/>
          </a:solidFill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rgbClr val="FF0000"/>
                </a:solidFill>
              </a:rPr>
              <a:t>수강생 탭 화면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D2D700B-038B-11B4-C550-8237DFA303BF}"/>
              </a:ext>
            </a:extLst>
          </p:cNvPr>
          <p:cNvSpPr/>
          <p:nvPr/>
        </p:nvSpPr>
        <p:spPr>
          <a:xfrm>
            <a:off x="2666232" y="3429000"/>
            <a:ext cx="8132933" cy="3054396"/>
          </a:xfrm>
          <a:prstGeom prst="rect">
            <a:avLst/>
          </a:prstGeom>
          <a:solidFill>
            <a:srgbClr val="F8F9FA"/>
          </a:solidFill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rgbClr val="FF0000"/>
                </a:solidFill>
              </a:rPr>
              <a:t>수강생 리스트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4E94EE-8AFF-58DC-038F-7D9456D39D74}"/>
              </a:ext>
            </a:extLst>
          </p:cNvPr>
          <p:cNvSpPr/>
          <p:nvPr/>
        </p:nvSpPr>
        <p:spPr>
          <a:xfrm>
            <a:off x="3778003" y="4645702"/>
            <a:ext cx="6415309" cy="1050561"/>
          </a:xfrm>
          <a:prstGeom prst="rect">
            <a:avLst/>
          </a:prstGeom>
          <a:solidFill>
            <a:srgbClr val="F8F9FA"/>
          </a:solidFill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rgbClr val="FF0000"/>
                </a:solidFill>
              </a:rPr>
              <a:t>수강생 리스트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73F30B2-0D59-BF7E-8493-777D1B2EA2C6}"/>
              </a:ext>
            </a:extLst>
          </p:cNvPr>
          <p:cNvSpPr/>
          <p:nvPr/>
        </p:nvSpPr>
        <p:spPr>
          <a:xfrm>
            <a:off x="2721901" y="3512070"/>
            <a:ext cx="4053653" cy="610225"/>
          </a:xfrm>
          <a:prstGeom prst="rect">
            <a:avLst/>
          </a:prstGeom>
          <a:solidFill>
            <a:srgbClr val="F8F9FA"/>
          </a:solidFill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rgbClr val="FF0000"/>
                </a:solidFill>
              </a:rPr>
              <a:t>수강생 이름 검색 조회</a:t>
            </a:r>
          </a:p>
        </p:txBody>
      </p:sp>
    </p:spTree>
    <p:extLst>
      <p:ext uri="{BB962C8B-B14F-4D97-AF65-F5344CB8AC3E}">
        <p14:creationId xmlns:p14="http://schemas.microsoft.com/office/powerpoint/2010/main" val="3924908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818EBF-24F1-7F1B-9BAE-F4924864B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672" y="0"/>
            <a:ext cx="10515600" cy="1325563"/>
          </a:xfrm>
        </p:spPr>
        <p:txBody>
          <a:bodyPr/>
          <a:lstStyle/>
          <a:p>
            <a:r>
              <a:rPr kumimoji="1" lang="ko-KR" altLang="en-US" dirty="0"/>
              <a:t>강의 수강 신청</a:t>
            </a:r>
          </a:p>
        </p:txBody>
      </p:sp>
      <p:pic>
        <p:nvPicPr>
          <p:cNvPr id="5" name="내용 개체 틀 4" descr="텍스트, 소프트웨어, 번호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0923D08-3377-312B-5EDF-9195903FDB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0472" y="1151068"/>
            <a:ext cx="10751055" cy="5174782"/>
          </a:xfr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38C065C-DD73-8006-0249-4FFDD055B449}"/>
              </a:ext>
            </a:extLst>
          </p:cNvPr>
          <p:cNvSpPr/>
          <p:nvPr/>
        </p:nvSpPr>
        <p:spPr>
          <a:xfrm>
            <a:off x="2621262" y="2079884"/>
            <a:ext cx="8726292" cy="4245965"/>
          </a:xfrm>
          <a:prstGeom prst="rect">
            <a:avLst/>
          </a:prstGeom>
          <a:solidFill>
            <a:srgbClr val="F8F9FA"/>
          </a:solidFill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rgbClr val="FF0000"/>
                </a:solidFill>
              </a:rPr>
              <a:t>수강생 리스트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8844B5E-AC89-191D-04CC-4E82AFAD9660}"/>
              </a:ext>
            </a:extLst>
          </p:cNvPr>
          <p:cNvSpPr/>
          <p:nvPr/>
        </p:nvSpPr>
        <p:spPr>
          <a:xfrm>
            <a:off x="8559865" y="2254379"/>
            <a:ext cx="2637787" cy="630837"/>
          </a:xfrm>
          <a:prstGeom prst="rect">
            <a:avLst/>
          </a:prstGeom>
          <a:solidFill>
            <a:srgbClr val="F8F9FA"/>
          </a:solidFill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rgbClr val="FF0000"/>
                </a:solidFill>
              </a:rPr>
              <a:t>강의 개설 신청 버튼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FB64A6D-3E49-C7B9-1259-6F3B2FA38060}"/>
              </a:ext>
            </a:extLst>
          </p:cNvPr>
          <p:cNvSpPr/>
          <p:nvPr/>
        </p:nvSpPr>
        <p:spPr>
          <a:xfrm>
            <a:off x="3132176" y="3540514"/>
            <a:ext cx="7704463" cy="2444647"/>
          </a:xfrm>
          <a:prstGeom prst="rect">
            <a:avLst/>
          </a:prstGeom>
          <a:solidFill>
            <a:srgbClr val="F8F9FA"/>
          </a:solidFill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rgbClr val="FF0000"/>
                </a:solidFill>
              </a:rPr>
              <a:t>강의 요청 리스트</a:t>
            </a:r>
            <a:br>
              <a:rPr kumimoji="1" lang="en-US" altLang="ko-KR" dirty="0">
                <a:solidFill>
                  <a:srgbClr val="FF0000"/>
                </a:solidFill>
              </a:rPr>
            </a:br>
            <a:r>
              <a:rPr kumimoji="1" lang="ko-KR" altLang="en-US" dirty="0">
                <a:solidFill>
                  <a:srgbClr val="FF0000"/>
                </a:solidFill>
              </a:rPr>
              <a:t>승인 상태 확인 가능</a:t>
            </a:r>
            <a:endParaRPr kumimoji="1" lang="en-US" altLang="ko-KR" dirty="0">
              <a:solidFill>
                <a:srgbClr val="FF0000"/>
              </a:solidFill>
            </a:endParaRPr>
          </a:p>
          <a:p>
            <a:pPr algn="ctr"/>
            <a:r>
              <a:rPr kumimoji="1" lang="ko-KR" altLang="en-US" dirty="0">
                <a:solidFill>
                  <a:srgbClr val="FF0000"/>
                </a:solidFill>
              </a:rPr>
              <a:t>대기</a:t>
            </a:r>
            <a:r>
              <a:rPr kumimoji="1" lang="en-US" altLang="ko-KR" dirty="0">
                <a:solidFill>
                  <a:srgbClr val="FF0000"/>
                </a:solidFill>
              </a:rPr>
              <a:t>/</a:t>
            </a:r>
            <a:r>
              <a:rPr kumimoji="1" lang="ko-KR" altLang="en-US" dirty="0">
                <a:solidFill>
                  <a:srgbClr val="FF0000"/>
                </a:solidFill>
              </a:rPr>
              <a:t>승인</a:t>
            </a:r>
            <a:r>
              <a:rPr kumimoji="1" lang="en-US" altLang="ko-KR" dirty="0">
                <a:solidFill>
                  <a:srgbClr val="FF0000"/>
                </a:solidFill>
              </a:rPr>
              <a:t>/</a:t>
            </a:r>
            <a:r>
              <a:rPr kumimoji="1" lang="ko-KR" altLang="en-US" dirty="0">
                <a:solidFill>
                  <a:srgbClr val="FF0000"/>
                </a:solidFill>
              </a:rPr>
              <a:t>반려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6C81AA5-012F-DBBE-1EA3-D8293AF80788}"/>
              </a:ext>
            </a:extLst>
          </p:cNvPr>
          <p:cNvSpPr/>
          <p:nvPr/>
        </p:nvSpPr>
        <p:spPr>
          <a:xfrm>
            <a:off x="2861346" y="2280401"/>
            <a:ext cx="5458436" cy="932464"/>
          </a:xfrm>
          <a:prstGeom prst="rect">
            <a:avLst/>
          </a:prstGeom>
          <a:solidFill>
            <a:srgbClr val="F8F9FA"/>
          </a:solidFill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rgbClr val="FF0000"/>
                </a:solidFill>
              </a:rPr>
              <a:t>강의 개설 신청일 아니면 리스트 안보이도록</a:t>
            </a:r>
          </a:p>
        </p:txBody>
      </p:sp>
    </p:spTree>
    <p:extLst>
      <p:ext uri="{BB962C8B-B14F-4D97-AF65-F5344CB8AC3E}">
        <p14:creationId xmlns:p14="http://schemas.microsoft.com/office/powerpoint/2010/main" val="3009219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B11029-9506-5BC4-B9CB-C378DD2AC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kumimoji="1" lang="ko-KR" altLang="en-US" dirty="0"/>
              <a:t>강의 수강 신청</a:t>
            </a:r>
            <a:r>
              <a:rPr kumimoji="1" lang="en-US" altLang="ko-KR" dirty="0"/>
              <a:t>/</a:t>
            </a:r>
            <a:r>
              <a:rPr kumimoji="1" lang="ko-KR" altLang="en-US" dirty="0"/>
              <a:t>수정 폼</a:t>
            </a:r>
          </a:p>
        </p:txBody>
      </p:sp>
      <p:pic>
        <p:nvPicPr>
          <p:cNvPr id="5" name="내용 개체 틀 4" descr="스크린샷, 텍스트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26FDE3-C8DF-63D1-A7EF-375688CD48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6588" y="1061126"/>
            <a:ext cx="11062487" cy="5324683"/>
          </a:xfr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1E5A520-E061-742A-9C2F-DA77EAA8212B}"/>
              </a:ext>
            </a:extLst>
          </p:cNvPr>
          <p:cNvSpPr/>
          <p:nvPr/>
        </p:nvSpPr>
        <p:spPr>
          <a:xfrm>
            <a:off x="2412649" y="1996527"/>
            <a:ext cx="8949895" cy="4269362"/>
          </a:xfrm>
          <a:prstGeom prst="rect">
            <a:avLst/>
          </a:prstGeom>
          <a:solidFill>
            <a:srgbClr val="F8F9FA"/>
          </a:solidFill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D40C89-C465-0E03-DA7D-6EDCBF2C771B}"/>
              </a:ext>
            </a:extLst>
          </p:cNvPr>
          <p:cNvSpPr/>
          <p:nvPr/>
        </p:nvSpPr>
        <p:spPr>
          <a:xfrm>
            <a:off x="2811137" y="2279219"/>
            <a:ext cx="7906830" cy="1780994"/>
          </a:xfrm>
          <a:prstGeom prst="rect">
            <a:avLst/>
          </a:prstGeom>
          <a:solidFill>
            <a:srgbClr val="F8F9FA"/>
          </a:solidFill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rgbClr val="FF0000"/>
                </a:solidFill>
              </a:rPr>
              <a:t>기본 강의 정보 입력</a:t>
            </a:r>
            <a:endParaRPr kumimoji="1" lang="en-US" altLang="ko-KR" dirty="0">
              <a:solidFill>
                <a:srgbClr val="FF0000"/>
              </a:solidFill>
            </a:endParaRPr>
          </a:p>
          <a:p>
            <a:pPr algn="ctr"/>
            <a:r>
              <a:rPr kumimoji="1" lang="ko-KR" altLang="en-US" dirty="0" err="1">
                <a:solidFill>
                  <a:srgbClr val="FF0000"/>
                </a:solidFill>
              </a:rPr>
              <a:t>강의명</a:t>
            </a:r>
            <a:r>
              <a:rPr kumimoji="1" lang="en-US" altLang="ko-KR" dirty="0">
                <a:solidFill>
                  <a:srgbClr val="FF0000"/>
                </a:solidFill>
              </a:rPr>
              <a:t>,</a:t>
            </a:r>
            <a:r>
              <a:rPr kumimoji="1" lang="ko-KR" altLang="en-US" dirty="0">
                <a:solidFill>
                  <a:srgbClr val="FF0000"/>
                </a:solidFill>
              </a:rPr>
              <a:t> 시간</a:t>
            </a:r>
            <a:r>
              <a:rPr kumimoji="1" lang="en-US" altLang="ko-KR" dirty="0">
                <a:solidFill>
                  <a:srgbClr val="FF0000"/>
                </a:solidFill>
              </a:rPr>
              <a:t>,</a:t>
            </a:r>
            <a:r>
              <a:rPr kumimoji="1" lang="ko-KR" altLang="en-US" dirty="0">
                <a:solidFill>
                  <a:srgbClr val="FF0000"/>
                </a:solidFill>
              </a:rPr>
              <a:t> 강의실</a:t>
            </a:r>
            <a:r>
              <a:rPr kumimoji="1" lang="en-US" altLang="ko-KR" dirty="0">
                <a:solidFill>
                  <a:srgbClr val="FF0000"/>
                </a:solidFill>
              </a:rPr>
              <a:t>..</a:t>
            </a:r>
            <a:r>
              <a:rPr kumimoji="1" lang="ko-KR" altLang="en-US" dirty="0">
                <a:solidFill>
                  <a:srgbClr val="FF0000"/>
                </a:solidFill>
              </a:rPr>
              <a:t>등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5E5E3E-46A2-6A43-7FA1-34DB2A161EC5}"/>
              </a:ext>
            </a:extLst>
          </p:cNvPr>
          <p:cNvSpPr/>
          <p:nvPr/>
        </p:nvSpPr>
        <p:spPr>
          <a:xfrm>
            <a:off x="2811137" y="4342905"/>
            <a:ext cx="7906830" cy="1175102"/>
          </a:xfrm>
          <a:prstGeom prst="rect">
            <a:avLst/>
          </a:prstGeom>
          <a:solidFill>
            <a:srgbClr val="F8F9FA"/>
          </a:solidFill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solidFill>
                  <a:srgbClr val="FF0000"/>
                </a:solidFill>
              </a:rPr>
              <a:t>강의 시험 배점도 입력</a:t>
            </a:r>
            <a:r>
              <a:rPr kumimoji="1" lang="en-US" altLang="ko-KR" dirty="0">
                <a:solidFill>
                  <a:srgbClr val="FF0000"/>
                </a:solidFill>
              </a:rPr>
              <a:t>(</a:t>
            </a:r>
            <a:r>
              <a:rPr kumimoji="1" lang="ko-KR" altLang="en-US" dirty="0">
                <a:solidFill>
                  <a:srgbClr val="FF0000"/>
                </a:solidFill>
              </a:rPr>
              <a:t>합계 </a:t>
            </a:r>
            <a:r>
              <a:rPr kumimoji="1" lang="en-US" altLang="ko-KR" dirty="0">
                <a:solidFill>
                  <a:srgbClr val="FF0000"/>
                </a:solidFill>
              </a:rPr>
              <a:t>100</a:t>
            </a:r>
            <a:r>
              <a:rPr kumimoji="1" lang="ko-KR" altLang="en-US" dirty="0">
                <a:solidFill>
                  <a:srgbClr val="FF0000"/>
                </a:solidFill>
              </a:rPr>
              <a:t>이도록</a:t>
            </a:r>
            <a:endParaRPr kumimoji="1"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1297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3786A-1740-56DC-B6B9-873DD44F7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60C210-BAF8-25FD-F852-E943F3AF8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08971"/>
            <a:ext cx="9144000" cy="2387600"/>
          </a:xfrm>
        </p:spPr>
        <p:txBody>
          <a:bodyPr/>
          <a:lstStyle/>
          <a:p>
            <a:r>
              <a:rPr kumimoji="1" lang="ko-KR" altLang="en-US" dirty="0"/>
              <a:t>학생 화면</a:t>
            </a:r>
          </a:p>
        </p:txBody>
      </p:sp>
    </p:spTree>
    <p:extLst>
      <p:ext uri="{BB962C8B-B14F-4D97-AF65-F5344CB8AC3E}">
        <p14:creationId xmlns:p14="http://schemas.microsoft.com/office/powerpoint/2010/main" val="30050870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2B08D-9607-87E8-008D-84FD558C7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872ED3-2516-2E6C-D0A2-71C633E04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마이페이지</a:t>
            </a: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915342E8-2993-9990-0895-2A057BB26BE2}"/>
              </a:ext>
            </a:extLst>
          </p:cNvPr>
          <p:cNvSpPr txBox="1">
            <a:spLocks/>
          </p:cNvSpPr>
          <p:nvPr/>
        </p:nvSpPr>
        <p:spPr>
          <a:xfrm>
            <a:off x="838200" y="55324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/>
              <a:t>사용자 개인에게 저장된 데이터출력</a:t>
            </a:r>
          </a:p>
        </p:txBody>
      </p:sp>
      <p:pic>
        <p:nvPicPr>
          <p:cNvPr id="14" name="내용 개체 틀 13" descr="텍스트, 소프트웨어, 번호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DBCD3B-FCB8-08A8-7040-1327A21487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60154"/>
            <a:ext cx="95890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31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73B6E-0922-79F3-EB83-DBB85D75B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82A8D4-5299-CF23-6127-34998DD92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마이페이지</a:t>
            </a: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A9DE1875-B862-341A-E3D6-26954C126342}"/>
              </a:ext>
            </a:extLst>
          </p:cNvPr>
          <p:cNvSpPr txBox="1">
            <a:spLocks/>
          </p:cNvSpPr>
          <p:nvPr/>
        </p:nvSpPr>
        <p:spPr>
          <a:xfrm>
            <a:off x="838200" y="55324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/>
              <a:t>마이페이지 접속 경로</a:t>
            </a:r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C00ECF6C-58EF-BD66-2BF0-38F12C9F15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560154"/>
            <a:ext cx="95890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040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EF53B-E4DA-0957-38AD-3F423E319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34EFA9-67BB-07B8-5437-93453626A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마이페이지</a:t>
            </a: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FBE9D08D-C044-BDC7-5828-DDE124FC7C50}"/>
              </a:ext>
            </a:extLst>
          </p:cNvPr>
          <p:cNvSpPr txBox="1">
            <a:spLocks/>
          </p:cNvSpPr>
          <p:nvPr/>
        </p:nvSpPr>
        <p:spPr>
          <a:xfrm>
            <a:off x="838200" y="55324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/>
              <a:t>권한에 따른 화면 정보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학생</a:t>
            </a:r>
            <a:r>
              <a:rPr lang="en-US" altLang="ko-KR" sz="2000" b="1" dirty="0"/>
              <a:t>)</a:t>
            </a:r>
            <a:endParaRPr lang="ko-KR" altLang="en-US" sz="2000" b="1" dirty="0"/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9F6C4390-4503-4E71-4B20-F1897118C5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560154"/>
            <a:ext cx="95890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5231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002BC-65B9-DAB2-23C9-ECF836413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E9564C-78B2-1735-D619-4B4ECDA70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마이페이지</a:t>
            </a: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BD4E3BA0-9923-05BF-861B-BCA85C72F47F}"/>
              </a:ext>
            </a:extLst>
          </p:cNvPr>
          <p:cNvSpPr txBox="1">
            <a:spLocks/>
          </p:cNvSpPr>
          <p:nvPr/>
        </p:nvSpPr>
        <p:spPr>
          <a:xfrm>
            <a:off x="838200" y="55324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/>
              <a:t>권한에 따른 화면 정보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교수</a:t>
            </a:r>
            <a:r>
              <a:rPr lang="en-US" altLang="ko-KR" sz="2000" b="1" dirty="0"/>
              <a:t>)</a:t>
            </a:r>
            <a:endParaRPr lang="ko-KR" altLang="en-US" sz="2000" b="1" dirty="0"/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E44DC795-069D-19FB-660B-EF285AAC07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560154"/>
            <a:ext cx="95890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5580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2C891-E621-CB2C-59A6-C3A3C68C4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D7A860-0031-E416-0CEE-5BD1290A7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마이페이지</a:t>
            </a: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BED0C124-5622-862E-0190-54D0C340C6F0}"/>
              </a:ext>
            </a:extLst>
          </p:cNvPr>
          <p:cNvSpPr txBox="1">
            <a:spLocks/>
          </p:cNvSpPr>
          <p:nvPr/>
        </p:nvSpPr>
        <p:spPr>
          <a:xfrm>
            <a:off x="838200" y="55324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/>
              <a:t>권한에 따른 화면 정보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관리자</a:t>
            </a:r>
            <a:r>
              <a:rPr lang="en-US" altLang="ko-KR" sz="2000" b="1" dirty="0"/>
              <a:t>)</a:t>
            </a:r>
            <a:endParaRPr lang="ko-KR" altLang="en-US" sz="2000" b="1" dirty="0"/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33971EFD-76D9-D73E-3276-B3B97E0207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560154"/>
            <a:ext cx="95890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290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51D45-912C-CCF3-DE19-47253B50C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928DE1-5001-F27E-8318-01130F4C0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마이페이지</a:t>
            </a: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6AB360AA-B667-BF0D-73EB-B5203379E84B}"/>
              </a:ext>
            </a:extLst>
          </p:cNvPr>
          <p:cNvSpPr txBox="1">
            <a:spLocks/>
          </p:cNvSpPr>
          <p:nvPr/>
        </p:nvSpPr>
        <p:spPr>
          <a:xfrm>
            <a:off x="838200" y="55324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/>
              <a:t>비밀번호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개인정보 변경 버튼</a:t>
            </a:r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EBD6C1E7-224A-9ABA-11EA-34CD52A6E8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560154"/>
            <a:ext cx="95890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4947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EDED0-37B9-597A-2827-0E8B70452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5D67A6-B9CA-CC96-CC8A-6FF1A73D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마이페이지</a:t>
            </a: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0BCB335C-BB90-AA05-9F08-A4597FA2514B}"/>
              </a:ext>
            </a:extLst>
          </p:cNvPr>
          <p:cNvSpPr txBox="1">
            <a:spLocks/>
          </p:cNvSpPr>
          <p:nvPr/>
        </p:nvSpPr>
        <p:spPr>
          <a:xfrm>
            <a:off x="838200" y="55324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/>
              <a:t>개인정보 수정 페이지</a:t>
            </a:r>
            <a:endParaRPr lang="en-US" altLang="ko-KR" sz="2000" b="1" dirty="0"/>
          </a:p>
          <a:p>
            <a:r>
              <a:rPr lang="ko-KR" altLang="en-US" sz="2000" b="1" dirty="0"/>
              <a:t>회색 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개인 변경 불가 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 흰색 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개인 변경 가능</a:t>
            </a:r>
            <a:endParaRPr lang="en-US" altLang="ko-KR" sz="2000" b="1" dirty="0"/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6B50A81A-DEB5-C4AA-6F3D-83AFF148C5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560154"/>
            <a:ext cx="95890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022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9C865-E53A-1201-0796-0A6CBDF3B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9D104-1CFD-62A6-3C88-2514A406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마이페이지</a:t>
            </a: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595235D2-B1CE-1037-3193-E9D5203D2603}"/>
              </a:ext>
            </a:extLst>
          </p:cNvPr>
          <p:cNvSpPr txBox="1">
            <a:spLocks/>
          </p:cNvSpPr>
          <p:nvPr/>
        </p:nvSpPr>
        <p:spPr>
          <a:xfrm>
            <a:off x="838200" y="55324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/>
              <a:t>비밀번호 변경 페이지 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아이디와 현비밀번호로 검증</a:t>
            </a:r>
            <a:r>
              <a:rPr lang="en-US" altLang="ko-KR" sz="2000" b="1" dirty="0"/>
              <a:t>)</a:t>
            </a:r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EE20C07C-1A01-4B24-C733-83CC13813A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560154"/>
            <a:ext cx="95890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2175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3E223-2D93-3B56-EC6B-76F5E2607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DD4C30-AF71-197A-ADCF-124A1208B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전체성적조회</a:t>
            </a:r>
            <a:r>
              <a:rPr lang="en-US" altLang="ko-KR" dirty="0"/>
              <a:t>(</a:t>
            </a:r>
            <a:r>
              <a:rPr lang="ko-KR" altLang="en-US" dirty="0"/>
              <a:t>학생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D970010F-D77C-C6EB-38E3-798FA95BEDEF}"/>
              </a:ext>
            </a:extLst>
          </p:cNvPr>
          <p:cNvSpPr txBox="1">
            <a:spLocks/>
          </p:cNvSpPr>
          <p:nvPr/>
        </p:nvSpPr>
        <p:spPr>
          <a:xfrm>
            <a:off x="838200" y="55324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/>
              <a:t>성적 조회화면 </a:t>
            </a:r>
            <a:r>
              <a:rPr lang="ko-KR" altLang="en-US" sz="2000" b="1" dirty="0" err="1"/>
              <a:t>접속전</a:t>
            </a:r>
            <a:r>
              <a:rPr lang="ko-KR" altLang="en-US" sz="2000" b="1" dirty="0"/>
              <a:t> 안내문</a:t>
            </a:r>
            <a:endParaRPr lang="en-US" altLang="ko-KR" sz="2000" b="1" dirty="0"/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88D24C0C-B6E3-5301-F849-5C8F928760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560154"/>
            <a:ext cx="95890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2473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9A837-011C-1B17-A388-6A129EB51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47999-351B-D40B-90F4-F699FAA89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전체성적조회</a:t>
            </a:r>
            <a:r>
              <a:rPr lang="en-US" altLang="ko-KR" dirty="0"/>
              <a:t>(</a:t>
            </a:r>
            <a:r>
              <a:rPr lang="ko-KR" altLang="en-US" dirty="0"/>
              <a:t>학생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3D7FE0E3-9524-066A-5CE3-94B23C5E7758}"/>
              </a:ext>
            </a:extLst>
          </p:cNvPr>
          <p:cNvSpPr txBox="1">
            <a:spLocks/>
          </p:cNvSpPr>
          <p:nvPr/>
        </p:nvSpPr>
        <p:spPr>
          <a:xfrm>
            <a:off x="838200" y="55324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/>
              <a:t>종강한 과목들 점수와 과목 개수</a:t>
            </a:r>
            <a:endParaRPr lang="en-US" altLang="ko-KR" sz="2000" b="1" dirty="0"/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F20C2B67-9446-2C4A-02F5-00C1D5C5EE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560154"/>
            <a:ext cx="95890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3099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010BA-7ED1-27CB-6406-E8480C685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C91BBE-03E8-8A1B-AD74-CD7BB8385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내 강의 조회</a:t>
            </a:r>
            <a:r>
              <a:rPr lang="en-US" altLang="ko-KR" dirty="0"/>
              <a:t>(</a:t>
            </a:r>
            <a:r>
              <a:rPr lang="ko-KR" altLang="en-US" dirty="0"/>
              <a:t>학생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8DCC7D19-1A76-94F6-7E68-A4831EC5589B}"/>
              </a:ext>
            </a:extLst>
          </p:cNvPr>
          <p:cNvSpPr txBox="1">
            <a:spLocks/>
          </p:cNvSpPr>
          <p:nvPr/>
        </p:nvSpPr>
        <p:spPr>
          <a:xfrm>
            <a:off x="838200" y="55324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/>
              <a:t>강의 조회화면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수강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종강 과목 구분</a:t>
            </a:r>
            <a:r>
              <a:rPr lang="en-US" altLang="ko-KR" sz="2000" b="1" dirty="0"/>
              <a:t>)</a:t>
            </a:r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BC11F02B-FB88-4E1F-9D5B-3CAAEB39A7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560154"/>
            <a:ext cx="95890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4881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32A31-2AF0-0030-AA8A-B192DDB9E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817BF2-DCF9-FEDB-EF3C-3E7663BAB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내 강의 조회</a:t>
            </a:r>
            <a:r>
              <a:rPr lang="en-US" altLang="ko-KR" dirty="0"/>
              <a:t>(</a:t>
            </a:r>
            <a:r>
              <a:rPr lang="ko-KR" altLang="en-US" dirty="0"/>
              <a:t>학생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C8814CE6-DA15-4D15-2EF7-848EECF0D981}"/>
              </a:ext>
            </a:extLst>
          </p:cNvPr>
          <p:cNvSpPr txBox="1">
            <a:spLocks/>
          </p:cNvSpPr>
          <p:nvPr/>
        </p:nvSpPr>
        <p:spPr>
          <a:xfrm>
            <a:off x="838200" y="55324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/>
              <a:t>강의 조회화면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수강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종강 과목 구분</a:t>
            </a:r>
            <a:r>
              <a:rPr lang="en-US" altLang="ko-KR" sz="2000" b="1" dirty="0"/>
              <a:t>)</a:t>
            </a:r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F18FDDC1-36EA-4B39-CE9B-8133E70119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560154"/>
            <a:ext cx="95890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5774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73D07-C473-9E50-3C07-4E4CA80AA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A20527-084F-B0B8-8482-A9ED9B08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수강신청</a:t>
            </a: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2EB1A059-DEE4-0BDF-CEBB-18858A7C48C8}"/>
              </a:ext>
            </a:extLst>
          </p:cNvPr>
          <p:cNvSpPr txBox="1">
            <a:spLocks/>
          </p:cNvSpPr>
          <p:nvPr/>
        </p:nvSpPr>
        <p:spPr>
          <a:xfrm>
            <a:off x="838200" y="55324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/>
              <a:t>수강신청 안내문</a:t>
            </a:r>
            <a:endParaRPr lang="en-US" altLang="ko-KR" sz="2000" b="1" dirty="0"/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F43250D6-D07E-6953-08C0-89D92C1349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560154"/>
            <a:ext cx="95890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060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B9F83-EDCD-6C32-3868-DA24B9484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D2ECD2-3F6F-BE78-04F0-862A1B01D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수강신청</a:t>
            </a: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04A1181C-214A-4234-C6F3-AE46CB23D8E8}"/>
              </a:ext>
            </a:extLst>
          </p:cNvPr>
          <p:cNvSpPr txBox="1">
            <a:spLocks/>
          </p:cNvSpPr>
          <p:nvPr/>
        </p:nvSpPr>
        <p:spPr>
          <a:xfrm>
            <a:off x="838200" y="55324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b="1" dirty="0"/>
          </a:p>
          <a:p>
            <a:r>
              <a:rPr lang="ko-KR" altLang="en-US" sz="2000" b="1" dirty="0"/>
              <a:t>수강신청 화면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학과별 구분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과목검색 가능</a:t>
            </a:r>
            <a:r>
              <a:rPr lang="en-US" altLang="ko-KR" sz="2000" b="1" dirty="0"/>
              <a:t>, </a:t>
            </a:r>
            <a:r>
              <a:rPr lang="ko-KR" altLang="en-US" sz="2000" b="1" dirty="0" err="1"/>
              <a:t>신청시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내가신청한</a:t>
            </a:r>
            <a:r>
              <a:rPr lang="ko-KR" altLang="en-US" sz="2000" b="1" dirty="0"/>
              <a:t> 항목은 수강신청내역으로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현재 정원 인원 확인 가능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기본적인 강의정보 구현</a:t>
            </a:r>
            <a:r>
              <a:rPr lang="en-US" altLang="ko-KR" sz="2000" b="1" dirty="0"/>
              <a:t>)</a:t>
            </a:r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D5186215-B2EB-BF68-40A7-79370E7DE9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560154"/>
            <a:ext cx="95890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908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D1854-B58C-06D0-ED00-96504A129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EDF0B-3BB1-C5F7-12F6-89A664697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수강신청</a:t>
            </a: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55260EED-3A57-9F94-9A7C-B7C347402F50}"/>
              </a:ext>
            </a:extLst>
          </p:cNvPr>
          <p:cNvSpPr txBox="1">
            <a:spLocks/>
          </p:cNvSpPr>
          <p:nvPr/>
        </p:nvSpPr>
        <p:spPr>
          <a:xfrm>
            <a:off x="838200" y="55324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/>
              <a:t>수강신청 제한 화면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수강신청일이 아니면 접근불가</a:t>
            </a:r>
            <a:r>
              <a:rPr lang="en-US" altLang="ko-KR" sz="2000" b="1" dirty="0"/>
              <a:t>)</a:t>
            </a:r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B65A308A-B460-E8EE-F049-BD3539970D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560154"/>
            <a:ext cx="95890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160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17021-0C8F-3FB1-6138-264DB90AD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5214B9-970C-52B7-F33A-B41002FC9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내 시간표</a:t>
            </a: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B171B0C3-EC03-A11A-F7D1-ACCBEFED4D14}"/>
              </a:ext>
            </a:extLst>
          </p:cNvPr>
          <p:cNvSpPr txBox="1">
            <a:spLocks/>
          </p:cNvSpPr>
          <p:nvPr/>
        </p:nvSpPr>
        <p:spPr>
          <a:xfrm>
            <a:off x="838200" y="55324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b="1" dirty="0"/>
          </a:p>
          <a:p>
            <a:r>
              <a:rPr lang="ko-KR" altLang="en-US" sz="2000" b="1" dirty="0"/>
              <a:t>내 시간표 화면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내가 현재 수강중인 과목만 표시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강의 스케줄표는 시간단위로 계산 강의목록 시간은 임의의 시간으로 실제 강의시간은 시간단위로 </a:t>
            </a:r>
            <a:r>
              <a:rPr lang="ko-KR" altLang="en-US" sz="2000" b="1" dirty="0" err="1"/>
              <a:t>정해짐</a:t>
            </a:r>
            <a:r>
              <a:rPr lang="en-US" altLang="ko-KR" sz="2000" b="1" dirty="0"/>
              <a:t>)</a:t>
            </a:r>
          </a:p>
        </p:txBody>
      </p:sp>
      <p:pic>
        <p:nvPicPr>
          <p:cNvPr id="14" name="내용 개체 틀 13">
            <a:extLst>
              <a:ext uri="{FF2B5EF4-FFF2-40B4-BE49-F238E27FC236}">
                <a16:creationId xmlns:a16="http://schemas.microsoft.com/office/drawing/2014/main" id="{796BEC3A-FBE5-3B72-3EB3-5FEA5F49BE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560154"/>
            <a:ext cx="95890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7905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AD725-D643-672A-3902-DAAF0F671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57C077-3D20-4DAE-6C75-18418AE6E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08971"/>
            <a:ext cx="9144000" cy="2387600"/>
          </a:xfrm>
        </p:spPr>
        <p:txBody>
          <a:bodyPr/>
          <a:lstStyle/>
          <a:p>
            <a:r>
              <a:rPr kumimoji="1" lang="ko-KR" altLang="en-US" dirty="0"/>
              <a:t>게시판 화면</a:t>
            </a:r>
          </a:p>
        </p:txBody>
      </p:sp>
    </p:spTree>
    <p:extLst>
      <p:ext uri="{BB962C8B-B14F-4D97-AF65-F5344CB8AC3E}">
        <p14:creationId xmlns:p14="http://schemas.microsoft.com/office/powerpoint/2010/main" val="26544397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A46A66-AE69-080D-4AAD-1406FBB15D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82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A013526-7639-F8E1-1DF6-9C17B6AD93A7}"/>
              </a:ext>
            </a:extLst>
          </p:cNvPr>
          <p:cNvSpPr txBox="1"/>
          <p:nvPr/>
        </p:nvSpPr>
        <p:spPr>
          <a:xfrm>
            <a:off x="3056468" y="3208813"/>
            <a:ext cx="40301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</a:rPr>
              <a:t>학사 일정이 </a:t>
            </a:r>
            <a:r>
              <a:rPr lang="ko-KR" altLang="en-US" sz="2000" dirty="0" err="1">
                <a:solidFill>
                  <a:srgbClr val="FF0000"/>
                </a:solidFill>
              </a:rPr>
              <a:t>적혀있는</a:t>
            </a:r>
            <a:r>
              <a:rPr lang="ko-KR" altLang="en-US" sz="2000" dirty="0">
                <a:solidFill>
                  <a:srgbClr val="FF0000"/>
                </a:solidFill>
              </a:rPr>
              <a:t> 달력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6686ED-57D1-2CB8-84A5-FC2FF6EC9C77}"/>
              </a:ext>
            </a:extLst>
          </p:cNvPr>
          <p:cNvSpPr txBox="1"/>
          <p:nvPr/>
        </p:nvSpPr>
        <p:spPr>
          <a:xfrm>
            <a:off x="3056468" y="5328595"/>
            <a:ext cx="64459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</a:rPr>
              <a:t>특정 일정 </a:t>
            </a:r>
            <a:r>
              <a:rPr lang="ko-KR" altLang="en-US" sz="2000" dirty="0" err="1">
                <a:solidFill>
                  <a:srgbClr val="FF0000"/>
                </a:solidFill>
              </a:rPr>
              <a:t>클릭시</a:t>
            </a:r>
            <a:r>
              <a:rPr lang="ko-KR" altLang="en-US" sz="2000" dirty="0">
                <a:solidFill>
                  <a:srgbClr val="FF0000"/>
                </a:solidFill>
              </a:rPr>
              <a:t> 상세 일정이 여기에 나타남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A7FD5AF-5B3E-C73E-C0D1-EF894C717B65}"/>
              </a:ext>
            </a:extLst>
          </p:cNvPr>
          <p:cNvSpPr/>
          <p:nvPr/>
        </p:nvSpPr>
        <p:spPr>
          <a:xfrm>
            <a:off x="2870609" y="2077531"/>
            <a:ext cx="8711790" cy="4195450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3CAF6B7-9DBA-E65D-5537-1C7141EF476E}"/>
              </a:ext>
            </a:extLst>
          </p:cNvPr>
          <p:cNvSpPr/>
          <p:nvPr/>
        </p:nvSpPr>
        <p:spPr>
          <a:xfrm>
            <a:off x="3232356" y="3116826"/>
            <a:ext cx="7708490" cy="24678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전체 공지사항 목록 부분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E6ACE491-7670-4A0B-E73B-460620D2B1D7}"/>
              </a:ext>
            </a:extLst>
          </p:cNvPr>
          <p:cNvCxnSpPr>
            <a:cxnSpLocks/>
          </p:cNvCxnSpPr>
          <p:nvPr/>
        </p:nvCxnSpPr>
        <p:spPr>
          <a:xfrm flipV="1">
            <a:off x="9502423" y="2536723"/>
            <a:ext cx="565811" cy="358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D663EA-0485-DC35-245C-B51CAFCA737A}"/>
              </a:ext>
            </a:extLst>
          </p:cNvPr>
          <p:cNvSpPr/>
          <p:nvPr/>
        </p:nvSpPr>
        <p:spPr>
          <a:xfrm>
            <a:off x="10215717" y="2281084"/>
            <a:ext cx="1219199" cy="412955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rgbClr val="FF0000"/>
                </a:solidFill>
              </a:rPr>
              <a:t>새 공지 작성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9BA0370-993A-29FC-64E0-F5310A1319AC}"/>
              </a:ext>
            </a:extLst>
          </p:cNvPr>
          <p:cNvSpPr/>
          <p:nvPr/>
        </p:nvSpPr>
        <p:spPr>
          <a:xfrm>
            <a:off x="7806814" y="2281084"/>
            <a:ext cx="1651820" cy="5442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관리자만 버튼 활성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438A28C-E4D7-F3F8-F2DE-6443A658BEF3}"/>
              </a:ext>
            </a:extLst>
          </p:cNvPr>
          <p:cNvSpPr/>
          <p:nvPr/>
        </p:nvSpPr>
        <p:spPr>
          <a:xfrm>
            <a:off x="2870609" y="1150374"/>
            <a:ext cx="2222501" cy="5112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B39C107-CF57-1FE3-64BF-396F3EDCF9E7}"/>
              </a:ext>
            </a:extLst>
          </p:cNvPr>
          <p:cNvCxnSpPr>
            <a:cxnSpLocks/>
          </p:cNvCxnSpPr>
          <p:nvPr/>
        </p:nvCxnSpPr>
        <p:spPr>
          <a:xfrm flipH="1">
            <a:off x="5309419" y="1273277"/>
            <a:ext cx="687120" cy="1159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AD17434-2CDC-9F4C-7722-E9B7E5DBE8DF}"/>
              </a:ext>
            </a:extLst>
          </p:cNvPr>
          <p:cNvSpPr/>
          <p:nvPr/>
        </p:nvSpPr>
        <p:spPr>
          <a:xfrm>
            <a:off x="6095999" y="878236"/>
            <a:ext cx="2320413" cy="5442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전체</a:t>
            </a:r>
            <a:r>
              <a:rPr lang="en-US" altLang="ko-KR" dirty="0">
                <a:solidFill>
                  <a:srgbClr val="FF0000"/>
                </a:solidFill>
              </a:rPr>
              <a:t>/</a:t>
            </a:r>
            <a:r>
              <a:rPr lang="ko-KR" altLang="en-US" dirty="0">
                <a:solidFill>
                  <a:srgbClr val="FF0000"/>
                </a:solidFill>
              </a:rPr>
              <a:t>강의로 탭 분리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7E07059-0C32-8F03-D8E4-B6BEDAE4C6E9}"/>
              </a:ext>
            </a:extLst>
          </p:cNvPr>
          <p:cNvSpPr/>
          <p:nvPr/>
        </p:nvSpPr>
        <p:spPr>
          <a:xfrm>
            <a:off x="2870609" y="1661652"/>
            <a:ext cx="8564307" cy="3826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DA3F4FB-0506-4C0C-A99D-8396F4565283}"/>
              </a:ext>
            </a:extLst>
          </p:cNvPr>
          <p:cNvCxnSpPr>
            <a:cxnSpLocks/>
          </p:cNvCxnSpPr>
          <p:nvPr/>
        </p:nvCxnSpPr>
        <p:spPr>
          <a:xfrm flipH="1">
            <a:off x="9458634" y="1417596"/>
            <a:ext cx="474177" cy="3259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EB4A0FD-F09F-54D9-ADC5-C33D8FB0156F}"/>
              </a:ext>
            </a:extLst>
          </p:cNvPr>
          <p:cNvSpPr/>
          <p:nvPr/>
        </p:nvSpPr>
        <p:spPr>
          <a:xfrm>
            <a:off x="9977510" y="1150374"/>
            <a:ext cx="1211599" cy="2385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rgbClr val="FF0000"/>
                </a:solidFill>
              </a:rPr>
              <a:t>검색 기능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7898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594D9-970B-6A25-03D3-59A021F3C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109EF5-6C9F-CF9B-D940-52DA79EB82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962"/>
            <a:ext cx="12192000" cy="68769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2E0B2DC-E004-5F1F-74D6-2ADB1B608C74}"/>
              </a:ext>
            </a:extLst>
          </p:cNvPr>
          <p:cNvSpPr txBox="1"/>
          <p:nvPr/>
        </p:nvSpPr>
        <p:spPr>
          <a:xfrm>
            <a:off x="3056468" y="3208813"/>
            <a:ext cx="40301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</a:rPr>
              <a:t>학사 일정이 </a:t>
            </a:r>
            <a:r>
              <a:rPr lang="ko-KR" altLang="en-US" sz="2000" dirty="0" err="1">
                <a:solidFill>
                  <a:srgbClr val="FF0000"/>
                </a:solidFill>
              </a:rPr>
              <a:t>적혀있는</a:t>
            </a:r>
            <a:r>
              <a:rPr lang="ko-KR" altLang="en-US" sz="2000" dirty="0">
                <a:solidFill>
                  <a:srgbClr val="FF0000"/>
                </a:solidFill>
              </a:rPr>
              <a:t> 달력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25C72A-5E51-1BD9-42E9-A33967890851}"/>
              </a:ext>
            </a:extLst>
          </p:cNvPr>
          <p:cNvSpPr txBox="1"/>
          <p:nvPr/>
        </p:nvSpPr>
        <p:spPr>
          <a:xfrm>
            <a:off x="3056468" y="5328595"/>
            <a:ext cx="64459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</a:rPr>
              <a:t>특정 일정 </a:t>
            </a:r>
            <a:r>
              <a:rPr lang="ko-KR" altLang="en-US" sz="2000" dirty="0" err="1">
                <a:solidFill>
                  <a:srgbClr val="FF0000"/>
                </a:solidFill>
              </a:rPr>
              <a:t>클릭시</a:t>
            </a:r>
            <a:r>
              <a:rPr lang="ko-KR" altLang="en-US" sz="2000" dirty="0">
                <a:solidFill>
                  <a:srgbClr val="FF0000"/>
                </a:solidFill>
              </a:rPr>
              <a:t> 상세 일정이 여기에 나타남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310B57E-5542-0407-1524-192D03C6A905}"/>
              </a:ext>
            </a:extLst>
          </p:cNvPr>
          <p:cNvSpPr/>
          <p:nvPr/>
        </p:nvSpPr>
        <p:spPr>
          <a:xfrm>
            <a:off x="2841112" y="2662550"/>
            <a:ext cx="8711790" cy="3738924"/>
          </a:xfrm>
          <a:prstGeom prst="rect">
            <a:avLst/>
          </a:prstGeom>
          <a:solidFill>
            <a:schemeClr val="bg1">
              <a:lumMod val="85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264E275-182B-A303-AD58-91C90125880C}"/>
              </a:ext>
            </a:extLst>
          </p:cNvPr>
          <p:cNvSpPr/>
          <p:nvPr/>
        </p:nvSpPr>
        <p:spPr>
          <a:xfrm>
            <a:off x="3232356" y="3698923"/>
            <a:ext cx="7708490" cy="24678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강의 공지사항 목록 부분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E704CAB4-29E6-5946-01A5-468BD1B802F9}"/>
              </a:ext>
            </a:extLst>
          </p:cNvPr>
          <p:cNvCxnSpPr>
            <a:cxnSpLocks/>
          </p:cNvCxnSpPr>
          <p:nvPr/>
        </p:nvCxnSpPr>
        <p:spPr>
          <a:xfrm flipV="1">
            <a:off x="9350888" y="3095235"/>
            <a:ext cx="565811" cy="358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FBD8603A-6306-B6CD-6F3C-30443783F32B}"/>
              </a:ext>
            </a:extLst>
          </p:cNvPr>
          <p:cNvSpPr/>
          <p:nvPr/>
        </p:nvSpPr>
        <p:spPr>
          <a:xfrm>
            <a:off x="10205885" y="2888758"/>
            <a:ext cx="1219199" cy="412955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rgbClr val="FF0000"/>
                </a:solidFill>
              </a:rPr>
              <a:t>새 공지 작성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1B2D56-7CB4-E108-D7E6-DF38D2405210}"/>
              </a:ext>
            </a:extLst>
          </p:cNvPr>
          <p:cNvSpPr/>
          <p:nvPr/>
        </p:nvSpPr>
        <p:spPr>
          <a:xfrm>
            <a:off x="7570840" y="2837509"/>
            <a:ext cx="1651820" cy="5442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교수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  <a:r>
              <a:rPr lang="ko-KR" altLang="en-US" dirty="0">
                <a:solidFill>
                  <a:srgbClr val="FF0000"/>
                </a:solidFill>
              </a:rPr>
              <a:t>관리자만 버튼 활성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B412898-3226-2B1D-EEA6-C099F31164CE}"/>
              </a:ext>
            </a:extLst>
          </p:cNvPr>
          <p:cNvSpPr/>
          <p:nvPr/>
        </p:nvSpPr>
        <p:spPr>
          <a:xfrm>
            <a:off x="2841111" y="1575576"/>
            <a:ext cx="2832101" cy="5442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279F2208-2271-13FC-7B8A-905DF6C20C50}"/>
              </a:ext>
            </a:extLst>
          </p:cNvPr>
          <p:cNvCxnSpPr>
            <a:cxnSpLocks/>
          </p:cNvCxnSpPr>
          <p:nvPr/>
        </p:nvCxnSpPr>
        <p:spPr>
          <a:xfrm flipH="1">
            <a:off x="5801032" y="1739137"/>
            <a:ext cx="294968" cy="1085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5ED1E10-4D8A-0052-8EEF-3401F65B99B5}"/>
              </a:ext>
            </a:extLst>
          </p:cNvPr>
          <p:cNvSpPr/>
          <p:nvPr/>
        </p:nvSpPr>
        <p:spPr>
          <a:xfrm>
            <a:off x="6223819" y="1433397"/>
            <a:ext cx="2595715" cy="5442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실제 수강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및 진행 강의 목록 드롭다운</a:t>
            </a:r>
          </a:p>
        </p:txBody>
      </p:sp>
    </p:spTree>
    <p:extLst>
      <p:ext uri="{BB962C8B-B14F-4D97-AF65-F5344CB8AC3E}">
        <p14:creationId xmlns:p14="http://schemas.microsoft.com/office/powerpoint/2010/main" val="7862897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A9226-528D-C1C0-3840-3AB944D68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2F8AF4-5288-7229-2531-5440F5C151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864"/>
            <a:ext cx="12192000" cy="687286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EDC377C-6651-18B0-7C10-5160DEDC99BC}"/>
              </a:ext>
            </a:extLst>
          </p:cNvPr>
          <p:cNvSpPr/>
          <p:nvPr/>
        </p:nvSpPr>
        <p:spPr>
          <a:xfrm>
            <a:off x="3961989" y="1076300"/>
            <a:ext cx="6243896" cy="5442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60A10D85-717F-67C0-8D56-A1CCD4956D94}"/>
              </a:ext>
            </a:extLst>
          </p:cNvPr>
          <p:cNvCxnSpPr>
            <a:cxnSpLocks/>
          </p:cNvCxnSpPr>
          <p:nvPr/>
        </p:nvCxnSpPr>
        <p:spPr>
          <a:xfrm flipV="1">
            <a:off x="3466406" y="1347789"/>
            <a:ext cx="434771" cy="1818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C3229FD-82A2-F84D-E195-D43F7252AA25}"/>
              </a:ext>
            </a:extLst>
          </p:cNvPr>
          <p:cNvSpPr/>
          <p:nvPr/>
        </p:nvSpPr>
        <p:spPr>
          <a:xfrm>
            <a:off x="304800" y="1076300"/>
            <a:ext cx="3100795" cy="9066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관리자는 전체</a:t>
            </a:r>
            <a:r>
              <a:rPr lang="en-US" altLang="ko-KR" dirty="0">
                <a:solidFill>
                  <a:srgbClr val="FF0000"/>
                </a:solidFill>
              </a:rPr>
              <a:t>/</a:t>
            </a:r>
            <a:r>
              <a:rPr lang="ko-KR" altLang="en-US" dirty="0">
                <a:solidFill>
                  <a:srgbClr val="FF0000"/>
                </a:solidFill>
              </a:rPr>
              <a:t>강의</a:t>
            </a:r>
            <a:br>
              <a:rPr lang="en-US" altLang="ko-KR" dirty="0">
                <a:solidFill>
                  <a:srgbClr val="FF0000"/>
                </a:solidFill>
              </a:rPr>
            </a:br>
            <a:r>
              <a:rPr lang="ko-KR" altLang="en-US" dirty="0">
                <a:solidFill>
                  <a:srgbClr val="FF0000"/>
                </a:solidFill>
              </a:rPr>
              <a:t>교수는 강의 공지사항만 선택가능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FEF76FD-63B3-2C2E-DC54-13E94AC11321}"/>
              </a:ext>
            </a:extLst>
          </p:cNvPr>
          <p:cNvSpPr/>
          <p:nvPr/>
        </p:nvSpPr>
        <p:spPr>
          <a:xfrm>
            <a:off x="3901177" y="1828800"/>
            <a:ext cx="6304708" cy="471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9D6237D-9F17-84B6-2D3E-52CA7A81AE40}"/>
              </a:ext>
            </a:extLst>
          </p:cNvPr>
          <p:cNvCxnSpPr>
            <a:cxnSpLocks/>
          </p:cNvCxnSpPr>
          <p:nvPr/>
        </p:nvCxnSpPr>
        <p:spPr>
          <a:xfrm flipH="1">
            <a:off x="10352004" y="1719989"/>
            <a:ext cx="349463" cy="2895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A181E9F-1428-18FD-52C6-D0BD0992AC46}"/>
              </a:ext>
            </a:extLst>
          </p:cNvPr>
          <p:cNvSpPr/>
          <p:nvPr/>
        </p:nvSpPr>
        <p:spPr>
          <a:xfrm>
            <a:off x="10373032" y="1108073"/>
            <a:ext cx="1651820" cy="5442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실제 진행 강의 선택 드롭다운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843BD4F-DA2B-8ED7-1E76-759F81CE0C01}"/>
              </a:ext>
            </a:extLst>
          </p:cNvPr>
          <p:cNvSpPr/>
          <p:nvPr/>
        </p:nvSpPr>
        <p:spPr>
          <a:xfrm>
            <a:off x="10205885" y="5540056"/>
            <a:ext cx="1219199" cy="2098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완료 버튼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60E31802-F46B-8F15-1E5F-204B3CD15B2E}"/>
              </a:ext>
            </a:extLst>
          </p:cNvPr>
          <p:cNvCxnSpPr>
            <a:cxnSpLocks/>
          </p:cNvCxnSpPr>
          <p:nvPr/>
        </p:nvCxnSpPr>
        <p:spPr>
          <a:xfrm flipH="1">
            <a:off x="9733239" y="5728705"/>
            <a:ext cx="472646" cy="2896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E34275C-7E86-0BE6-91F8-D97A3909309D}"/>
              </a:ext>
            </a:extLst>
          </p:cNvPr>
          <p:cNvSpPr/>
          <p:nvPr/>
        </p:nvSpPr>
        <p:spPr>
          <a:xfrm>
            <a:off x="5135443" y="5982700"/>
            <a:ext cx="1219199" cy="2098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취소 버튼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96CDD977-C6D3-DC36-40CC-2744AC72392D}"/>
              </a:ext>
            </a:extLst>
          </p:cNvPr>
          <p:cNvCxnSpPr>
            <a:cxnSpLocks/>
          </p:cNvCxnSpPr>
          <p:nvPr/>
        </p:nvCxnSpPr>
        <p:spPr>
          <a:xfrm flipH="1">
            <a:off x="4606036" y="6098904"/>
            <a:ext cx="465498" cy="1873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395C0E3-1016-8003-57A5-C3EC67829E64}"/>
              </a:ext>
            </a:extLst>
          </p:cNvPr>
          <p:cNvSpPr/>
          <p:nvPr/>
        </p:nvSpPr>
        <p:spPr>
          <a:xfrm>
            <a:off x="3961989" y="2590881"/>
            <a:ext cx="6304708" cy="471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E02B47-EF06-D892-24FC-4A1416EB47EE}"/>
              </a:ext>
            </a:extLst>
          </p:cNvPr>
          <p:cNvSpPr txBox="1"/>
          <p:nvPr/>
        </p:nvSpPr>
        <p:spPr>
          <a:xfrm>
            <a:off x="4416255" y="4244331"/>
            <a:ext cx="5274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내용 입력 칸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5F5231B-FAED-7720-811F-F35F77C0D960}"/>
              </a:ext>
            </a:extLst>
          </p:cNvPr>
          <p:cNvSpPr/>
          <p:nvPr/>
        </p:nvSpPr>
        <p:spPr>
          <a:xfrm>
            <a:off x="3961989" y="3244628"/>
            <a:ext cx="6304708" cy="27380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0C25EA-3838-610A-8661-CB87E720BE33}"/>
              </a:ext>
            </a:extLst>
          </p:cNvPr>
          <p:cNvSpPr txBox="1"/>
          <p:nvPr/>
        </p:nvSpPr>
        <p:spPr>
          <a:xfrm>
            <a:off x="4356372" y="2692956"/>
            <a:ext cx="5274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제목 입력 칸</a:t>
            </a:r>
          </a:p>
        </p:txBody>
      </p:sp>
    </p:spTree>
    <p:extLst>
      <p:ext uri="{BB962C8B-B14F-4D97-AF65-F5344CB8AC3E}">
        <p14:creationId xmlns:p14="http://schemas.microsoft.com/office/powerpoint/2010/main" val="7288392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A5F32-9680-FD1E-95C9-3C8EA3E9E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28D259-B936-62BE-EBDA-0110F4AE77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442"/>
            <a:ext cx="12192000" cy="689044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ABAC919-D5B8-D06D-0D0B-8DC23562BFBB}"/>
              </a:ext>
            </a:extLst>
          </p:cNvPr>
          <p:cNvSpPr/>
          <p:nvPr/>
        </p:nvSpPr>
        <p:spPr>
          <a:xfrm>
            <a:off x="3961989" y="1076300"/>
            <a:ext cx="6243896" cy="5442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D1E24DDE-CCEC-CD8B-6964-F4EA37211AED}"/>
              </a:ext>
            </a:extLst>
          </p:cNvPr>
          <p:cNvCxnSpPr>
            <a:cxnSpLocks/>
          </p:cNvCxnSpPr>
          <p:nvPr/>
        </p:nvCxnSpPr>
        <p:spPr>
          <a:xfrm flipH="1" flipV="1">
            <a:off x="9939995" y="1298751"/>
            <a:ext cx="433037" cy="5104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DCFB80A-81C0-5647-58CA-C29512DA299B}"/>
              </a:ext>
            </a:extLst>
          </p:cNvPr>
          <p:cNvSpPr/>
          <p:nvPr/>
        </p:nvSpPr>
        <p:spPr>
          <a:xfrm>
            <a:off x="10403438" y="1704761"/>
            <a:ext cx="1651820" cy="5442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전체</a:t>
            </a:r>
            <a:r>
              <a:rPr lang="en-US" altLang="ko-KR" sz="1400" dirty="0">
                <a:solidFill>
                  <a:srgbClr val="FF0000"/>
                </a:solidFill>
              </a:rPr>
              <a:t>/</a:t>
            </a:r>
            <a:r>
              <a:rPr lang="ko-KR" altLang="en-US" sz="1400" dirty="0">
                <a:solidFill>
                  <a:srgbClr val="FF0000"/>
                </a:solidFill>
              </a:rPr>
              <a:t>강의 구분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4C93031-D4DA-687B-6B47-563B51CD3D00}"/>
              </a:ext>
            </a:extLst>
          </p:cNvPr>
          <p:cNvSpPr/>
          <p:nvPr/>
        </p:nvSpPr>
        <p:spPr>
          <a:xfrm>
            <a:off x="7905135" y="4639683"/>
            <a:ext cx="1219199" cy="2098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수정 버튼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A37D93DC-B780-763D-7AF4-03AE5F201A78}"/>
              </a:ext>
            </a:extLst>
          </p:cNvPr>
          <p:cNvCxnSpPr>
            <a:cxnSpLocks/>
          </p:cNvCxnSpPr>
          <p:nvPr/>
        </p:nvCxnSpPr>
        <p:spPr>
          <a:xfrm flipV="1">
            <a:off x="8630981" y="3911990"/>
            <a:ext cx="377677" cy="5212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E4F28E4-BCE0-0E0C-86DF-265A158F3DF9}"/>
              </a:ext>
            </a:extLst>
          </p:cNvPr>
          <p:cNvSpPr/>
          <p:nvPr/>
        </p:nvSpPr>
        <p:spPr>
          <a:xfrm>
            <a:off x="4336383" y="4347100"/>
            <a:ext cx="2005424" cy="5151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List</a:t>
            </a:r>
            <a:r>
              <a:rPr lang="ko-KR" altLang="en-US" dirty="0">
                <a:solidFill>
                  <a:srgbClr val="FF0000"/>
                </a:solidFill>
              </a:rPr>
              <a:t>로 돌아가기 버튼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85FA5A23-8C81-0E65-D423-27C07166EB31}"/>
              </a:ext>
            </a:extLst>
          </p:cNvPr>
          <p:cNvCxnSpPr>
            <a:cxnSpLocks/>
          </p:cNvCxnSpPr>
          <p:nvPr/>
        </p:nvCxnSpPr>
        <p:spPr>
          <a:xfrm flipH="1" flipV="1">
            <a:off x="4699819" y="3982065"/>
            <a:ext cx="167149" cy="1997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E0674A8-4A67-6B1C-C340-8DBF30CC5598}"/>
              </a:ext>
            </a:extLst>
          </p:cNvPr>
          <p:cNvSpPr txBox="1"/>
          <p:nvPr/>
        </p:nvSpPr>
        <p:spPr>
          <a:xfrm>
            <a:off x="4513005" y="2064371"/>
            <a:ext cx="4445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solidFill>
                  <a:srgbClr val="FF0000"/>
                </a:solidFill>
              </a:rPr>
              <a:t>공지 사항 상세 내용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D3D6EE6-3734-4CA5-EBD8-A11C3EDF6512}"/>
              </a:ext>
            </a:extLst>
          </p:cNvPr>
          <p:cNvSpPr/>
          <p:nvPr/>
        </p:nvSpPr>
        <p:spPr>
          <a:xfrm>
            <a:off x="3961989" y="1657389"/>
            <a:ext cx="6304708" cy="17716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D08FBC-08DC-0AEA-9E73-8E6424E8EAD4}"/>
              </a:ext>
            </a:extLst>
          </p:cNvPr>
          <p:cNvSpPr txBox="1"/>
          <p:nvPr/>
        </p:nvSpPr>
        <p:spPr>
          <a:xfrm>
            <a:off x="3794841" y="1153981"/>
            <a:ext cx="5274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작성 공지사항 제목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  <a:r>
              <a:rPr lang="ko-KR" altLang="en-US" dirty="0">
                <a:solidFill>
                  <a:srgbClr val="FF0000"/>
                </a:solidFill>
              </a:rPr>
              <a:t>작성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  <a:r>
              <a:rPr lang="ko-KR" altLang="en-US" dirty="0">
                <a:solidFill>
                  <a:srgbClr val="FF0000"/>
                </a:solidFill>
              </a:rPr>
              <a:t>조회수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59F557-6788-1533-AAC5-EE1B9CA5281A}"/>
              </a:ext>
            </a:extLst>
          </p:cNvPr>
          <p:cNvSpPr/>
          <p:nvPr/>
        </p:nvSpPr>
        <p:spPr>
          <a:xfrm>
            <a:off x="5461442" y="491007"/>
            <a:ext cx="2443693" cy="4811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5E62A4-EEAA-B087-F28E-316E0E922424}"/>
              </a:ext>
            </a:extLst>
          </p:cNvPr>
          <p:cNvSpPr txBox="1"/>
          <p:nvPr/>
        </p:nvSpPr>
        <p:spPr>
          <a:xfrm>
            <a:off x="5567326" y="563565"/>
            <a:ext cx="2231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공지 상세 페이지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64FDD20-206A-E885-4AFF-742C591B34AC}"/>
              </a:ext>
            </a:extLst>
          </p:cNvPr>
          <p:cNvCxnSpPr>
            <a:cxnSpLocks/>
          </p:cNvCxnSpPr>
          <p:nvPr/>
        </p:nvCxnSpPr>
        <p:spPr>
          <a:xfrm flipV="1">
            <a:off x="10008406" y="3884347"/>
            <a:ext cx="0" cy="6189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E4B6E95-6458-3F21-373D-678A753F54A5}"/>
              </a:ext>
            </a:extLst>
          </p:cNvPr>
          <p:cNvSpPr/>
          <p:nvPr/>
        </p:nvSpPr>
        <p:spPr>
          <a:xfrm>
            <a:off x="9438967" y="4639682"/>
            <a:ext cx="1219199" cy="2098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삭제 버튼</a:t>
            </a:r>
          </a:p>
        </p:txBody>
      </p:sp>
    </p:spTree>
    <p:extLst>
      <p:ext uri="{BB962C8B-B14F-4D97-AF65-F5344CB8AC3E}">
        <p14:creationId xmlns:p14="http://schemas.microsoft.com/office/powerpoint/2010/main" val="37447910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3FCF2-4E91-C867-2B1A-401F20F30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72F6F66-DF7E-6D3B-B924-239AB3D633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320"/>
            <a:ext cx="12192000" cy="688132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CAFBA51-F7F2-5DA3-5CD1-6C328CF8A095}"/>
              </a:ext>
            </a:extLst>
          </p:cNvPr>
          <p:cNvSpPr/>
          <p:nvPr/>
        </p:nvSpPr>
        <p:spPr>
          <a:xfrm>
            <a:off x="4356373" y="884304"/>
            <a:ext cx="5102260" cy="12173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8A9672C-2649-4083-E343-A66BCF2E4CBA}"/>
              </a:ext>
            </a:extLst>
          </p:cNvPr>
          <p:cNvCxnSpPr>
            <a:cxnSpLocks/>
          </p:cNvCxnSpPr>
          <p:nvPr/>
        </p:nvCxnSpPr>
        <p:spPr>
          <a:xfrm flipH="1">
            <a:off x="9281461" y="1172054"/>
            <a:ext cx="349463" cy="2895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C55CD2E-B457-82A3-5F82-7659BF06EB51}"/>
              </a:ext>
            </a:extLst>
          </p:cNvPr>
          <p:cNvSpPr/>
          <p:nvPr/>
        </p:nvSpPr>
        <p:spPr>
          <a:xfrm>
            <a:off x="9733239" y="839654"/>
            <a:ext cx="1651820" cy="5442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공지분류</a:t>
            </a:r>
            <a:r>
              <a:rPr lang="en-US" altLang="ko-KR" sz="1400" dirty="0">
                <a:solidFill>
                  <a:srgbClr val="FF0000"/>
                </a:solidFill>
              </a:rPr>
              <a:t>,</a:t>
            </a:r>
            <a:r>
              <a:rPr lang="ko-KR" altLang="en-US" sz="1400" dirty="0">
                <a:solidFill>
                  <a:srgbClr val="FF0000"/>
                </a:solidFill>
              </a:rPr>
              <a:t>공지대상 고정 처리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153073C-7F33-D6D2-B0F4-11C758EA7A83}"/>
              </a:ext>
            </a:extLst>
          </p:cNvPr>
          <p:cNvSpPr/>
          <p:nvPr/>
        </p:nvSpPr>
        <p:spPr>
          <a:xfrm>
            <a:off x="7123472" y="6008002"/>
            <a:ext cx="1219199" cy="2098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완료 버튼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1807371A-397F-A48A-7924-3EC7723C5A55}"/>
              </a:ext>
            </a:extLst>
          </p:cNvPr>
          <p:cNvCxnSpPr>
            <a:cxnSpLocks/>
          </p:cNvCxnSpPr>
          <p:nvPr/>
        </p:nvCxnSpPr>
        <p:spPr>
          <a:xfrm flipV="1">
            <a:off x="8209935" y="5718005"/>
            <a:ext cx="265471" cy="2140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F8ACDC85-B2A2-5FA6-AFCA-F38D554BFCAE}"/>
              </a:ext>
            </a:extLst>
          </p:cNvPr>
          <p:cNvSpPr/>
          <p:nvPr/>
        </p:nvSpPr>
        <p:spPr>
          <a:xfrm>
            <a:off x="4356373" y="2291554"/>
            <a:ext cx="5417986" cy="2895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6781086D-1836-BB44-C365-17B4DE962B4D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954586" y="2002013"/>
            <a:ext cx="401787" cy="4343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3F842DE-4389-EB2C-3BC9-12D477D0C9F6}"/>
              </a:ext>
            </a:extLst>
          </p:cNvPr>
          <p:cNvSpPr/>
          <p:nvPr/>
        </p:nvSpPr>
        <p:spPr>
          <a:xfrm>
            <a:off x="2414060" y="1758214"/>
            <a:ext cx="1651820" cy="2896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기존 공지 제목 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85C79FC-A440-711C-5792-D34A12B1C9F6}"/>
              </a:ext>
            </a:extLst>
          </p:cNvPr>
          <p:cNvSpPr/>
          <p:nvPr/>
        </p:nvSpPr>
        <p:spPr>
          <a:xfrm>
            <a:off x="2462539" y="3052400"/>
            <a:ext cx="1651820" cy="2896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기존 공지 상세 내용 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3D76F73-8C61-621E-0E2A-C1BBA1E5DFB9}"/>
              </a:ext>
            </a:extLst>
          </p:cNvPr>
          <p:cNvCxnSpPr>
            <a:cxnSpLocks/>
          </p:cNvCxnSpPr>
          <p:nvPr/>
        </p:nvCxnSpPr>
        <p:spPr>
          <a:xfrm>
            <a:off x="4065880" y="3282014"/>
            <a:ext cx="401787" cy="4343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EAE66D8-2FCF-04FB-5F0A-64AB50C95D98}"/>
              </a:ext>
            </a:extLst>
          </p:cNvPr>
          <p:cNvSpPr/>
          <p:nvPr/>
        </p:nvSpPr>
        <p:spPr>
          <a:xfrm>
            <a:off x="4356373" y="2850481"/>
            <a:ext cx="5414208" cy="2155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6AAB433-A86B-1B0F-B34F-F466B6D8A3D0}"/>
              </a:ext>
            </a:extLst>
          </p:cNvPr>
          <p:cNvSpPr/>
          <p:nvPr/>
        </p:nvSpPr>
        <p:spPr>
          <a:xfrm>
            <a:off x="3047574" y="5836259"/>
            <a:ext cx="1219199" cy="2098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취소 버튼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338EB6F2-1B3F-5486-3152-44FDFD997DCF}"/>
              </a:ext>
            </a:extLst>
          </p:cNvPr>
          <p:cNvCxnSpPr>
            <a:cxnSpLocks/>
          </p:cNvCxnSpPr>
          <p:nvPr/>
        </p:nvCxnSpPr>
        <p:spPr>
          <a:xfrm flipV="1">
            <a:off x="3954586" y="5553393"/>
            <a:ext cx="501461" cy="2140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31675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B5E95-3F86-E55A-0FC8-F133C0CAB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소프트웨어, 텍스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6D48B59-3C63-2B7A-74A6-E3F9499445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80"/>
            <a:ext cx="12192000" cy="684862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1AE79FF-2968-A43A-4F9A-63D2485C40D8}"/>
              </a:ext>
            </a:extLst>
          </p:cNvPr>
          <p:cNvSpPr txBox="1"/>
          <p:nvPr/>
        </p:nvSpPr>
        <p:spPr>
          <a:xfrm>
            <a:off x="4767850" y="2453115"/>
            <a:ext cx="19770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solidFill>
                  <a:srgbClr val="FF0000"/>
                </a:solidFill>
              </a:rPr>
              <a:t>QnA</a:t>
            </a:r>
            <a:r>
              <a:rPr lang="en-US" altLang="ko-KR" sz="2000" dirty="0">
                <a:solidFill>
                  <a:srgbClr val="FF0000"/>
                </a:solidFill>
              </a:rPr>
              <a:t> </a:t>
            </a:r>
            <a:r>
              <a:rPr lang="ko-KR" altLang="en-US" sz="2000" dirty="0">
                <a:solidFill>
                  <a:srgbClr val="FF0000"/>
                </a:solidFill>
              </a:rPr>
              <a:t>목록 부분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E0C62CB-53AF-BFA9-CC81-B7E0271304CE}"/>
              </a:ext>
            </a:extLst>
          </p:cNvPr>
          <p:cNvSpPr/>
          <p:nvPr/>
        </p:nvSpPr>
        <p:spPr>
          <a:xfrm>
            <a:off x="2123766" y="865240"/>
            <a:ext cx="9910918" cy="51145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906C00D9-EEA3-C07F-1EA1-902F8C5483FA}"/>
              </a:ext>
            </a:extLst>
          </p:cNvPr>
          <p:cNvCxnSpPr>
            <a:cxnSpLocks/>
          </p:cNvCxnSpPr>
          <p:nvPr/>
        </p:nvCxnSpPr>
        <p:spPr>
          <a:xfrm flipV="1">
            <a:off x="9860182" y="1909210"/>
            <a:ext cx="565811" cy="2914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BFD3D270-BDD8-7845-4681-E19181072E50}"/>
              </a:ext>
            </a:extLst>
          </p:cNvPr>
          <p:cNvSpPr/>
          <p:nvPr/>
        </p:nvSpPr>
        <p:spPr>
          <a:xfrm>
            <a:off x="10583309" y="1641988"/>
            <a:ext cx="1366683" cy="4129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rgbClr val="FF0000"/>
                </a:solidFill>
              </a:rPr>
              <a:t>질문 작성 버튼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47E3BE8-5C4B-BAD6-0012-0DB48A55ABED}"/>
              </a:ext>
            </a:extLst>
          </p:cNvPr>
          <p:cNvSpPr/>
          <p:nvPr/>
        </p:nvSpPr>
        <p:spPr>
          <a:xfrm>
            <a:off x="8172832" y="2063025"/>
            <a:ext cx="1608691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학생만 버튼 활성</a:t>
            </a:r>
          </a:p>
        </p:txBody>
      </p:sp>
    </p:spTree>
    <p:extLst>
      <p:ext uri="{BB962C8B-B14F-4D97-AF65-F5344CB8AC3E}">
        <p14:creationId xmlns:p14="http://schemas.microsoft.com/office/powerpoint/2010/main" val="27251660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AFB2F-2FE4-7F0D-74DD-368362369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소프트웨어, 컴퓨터 아이콘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614A4E-9457-253C-9CB3-AC53506679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001"/>
            <a:ext cx="12192000" cy="6886001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52A1A725-4AA2-135B-0C3F-A00CD4A8FB3B}"/>
              </a:ext>
            </a:extLst>
          </p:cNvPr>
          <p:cNvCxnSpPr>
            <a:cxnSpLocks/>
          </p:cNvCxnSpPr>
          <p:nvPr/>
        </p:nvCxnSpPr>
        <p:spPr>
          <a:xfrm flipH="1" flipV="1">
            <a:off x="2487561" y="4090219"/>
            <a:ext cx="511278" cy="4227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8EA0278A-F2BC-F68B-A5A1-8AD84F2FDB57}"/>
              </a:ext>
            </a:extLst>
          </p:cNvPr>
          <p:cNvSpPr/>
          <p:nvPr/>
        </p:nvSpPr>
        <p:spPr>
          <a:xfrm>
            <a:off x="3091129" y="4387793"/>
            <a:ext cx="1366683" cy="4129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rgbClr val="FF0000"/>
                </a:solidFill>
              </a:rPr>
              <a:t>완료</a:t>
            </a:r>
            <a:r>
              <a:rPr lang="en-US" altLang="ko-KR" sz="1300" dirty="0">
                <a:solidFill>
                  <a:srgbClr val="FF0000"/>
                </a:solidFill>
              </a:rPr>
              <a:t>,</a:t>
            </a:r>
            <a:r>
              <a:rPr lang="ko-KR" altLang="en-US" sz="1300" dirty="0">
                <a:solidFill>
                  <a:srgbClr val="FF0000"/>
                </a:solidFill>
              </a:rPr>
              <a:t>취소 버튼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AFC5F6-F2CC-CF25-4DD8-C3790BE7915C}"/>
              </a:ext>
            </a:extLst>
          </p:cNvPr>
          <p:cNvSpPr/>
          <p:nvPr/>
        </p:nvSpPr>
        <p:spPr>
          <a:xfrm>
            <a:off x="2064774" y="3414999"/>
            <a:ext cx="9989574" cy="2914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공개</a:t>
            </a:r>
            <a:r>
              <a:rPr lang="en-US" altLang="ko-KR" sz="1400" dirty="0">
                <a:solidFill>
                  <a:srgbClr val="FF0000"/>
                </a:solidFill>
              </a:rPr>
              <a:t>/</a:t>
            </a:r>
            <a:r>
              <a:rPr lang="ko-KR" altLang="en-US" sz="1400" dirty="0">
                <a:solidFill>
                  <a:srgbClr val="FF0000"/>
                </a:solidFill>
              </a:rPr>
              <a:t>비공개 선택 여부 </a:t>
            </a:r>
            <a:r>
              <a:rPr lang="ko-KR" altLang="en-US" sz="1400" dirty="0" err="1">
                <a:solidFill>
                  <a:srgbClr val="FF0000"/>
                </a:solidFill>
              </a:rPr>
              <a:t>셀렉트</a:t>
            </a:r>
            <a:r>
              <a:rPr lang="ko-KR" altLang="en-US" sz="1400" dirty="0">
                <a:solidFill>
                  <a:srgbClr val="FF0000"/>
                </a:solidFill>
              </a:rPr>
              <a:t> 버튼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D461505-CCB9-C42A-FC40-0DA5FD3E44A8}"/>
              </a:ext>
            </a:extLst>
          </p:cNvPr>
          <p:cNvSpPr/>
          <p:nvPr/>
        </p:nvSpPr>
        <p:spPr>
          <a:xfrm>
            <a:off x="2064774" y="1319240"/>
            <a:ext cx="9989574" cy="4129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 err="1">
                <a:solidFill>
                  <a:srgbClr val="FF0000"/>
                </a:solidFill>
              </a:rPr>
              <a:t>QnA</a:t>
            </a:r>
            <a:r>
              <a:rPr lang="ko-KR" altLang="en-US" sz="1300" dirty="0">
                <a:solidFill>
                  <a:srgbClr val="FF0000"/>
                </a:solidFill>
              </a:rPr>
              <a:t> 제목 작성 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82FC464-7965-FBB2-B6DB-07DC50411A2E}"/>
              </a:ext>
            </a:extLst>
          </p:cNvPr>
          <p:cNvSpPr/>
          <p:nvPr/>
        </p:nvSpPr>
        <p:spPr>
          <a:xfrm>
            <a:off x="2064774" y="1886177"/>
            <a:ext cx="9989574" cy="13388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 err="1">
                <a:solidFill>
                  <a:srgbClr val="FF0000"/>
                </a:solidFill>
              </a:rPr>
              <a:t>QnA</a:t>
            </a:r>
            <a:r>
              <a:rPr lang="ko-KR" altLang="en-US" sz="1300" dirty="0">
                <a:solidFill>
                  <a:srgbClr val="FF0000"/>
                </a:solidFill>
              </a:rPr>
              <a:t> 내용 작성 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3F96673-427A-7882-938F-6DD9972D54F4}"/>
              </a:ext>
            </a:extLst>
          </p:cNvPr>
          <p:cNvSpPr/>
          <p:nvPr/>
        </p:nvSpPr>
        <p:spPr>
          <a:xfrm>
            <a:off x="2713704" y="789437"/>
            <a:ext cx="1744108" cy="4129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 err="1">
                <a:solidFill>
                  <a:srgbClr val="FF0000"/>
                </a:solidFill>
              </a:rPr>
              <a:t>QnA</a:t>
            </a:r>
            <a:r>
              <a:rPr lang="ko-KR" altLang="en-US" sz="1300" dirty="0">
                <a:solidFill>
                  <a:srgbClr val="FF0000"/>
                </a:solidFill>
              </a:rPr>
              <a:t>  작성 </a:t>
            </a:r>
          </a:p>
        </p:txBody>
      </p:sp>
    </p:spTree>
    <p:extLst>
      <p:ext uri="{BB962C8B-B14F-4D97-AF65-F5344CB8AC3E}">
        <p14:creationId xmlns:p14="http://schemas.microsoft.com/office/powerpoint/2010/main" val="1519702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A715F-A79F-573F-1809-897847A07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소프트웨어, 텍스트, 컴퓨터 아이콘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3EFDFA-50CB-66BB-C8C4-76BBB26C34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9504"/>
            <a:ext cx="12192000" cy="6887503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EF4DCFB4-9D4B-69EA-B9AF-3D090C08DF5B}"/>
              </a:ext>
            </a:extLst>
          </p:cNvPr>
          <p:cNvCxnSpPr>
            <a:cxnSpLocks/>
          </p:cNvCxnSpPr>
          <p:nvPr/>
        </p:nvCxnSpPr>
        <p:spPr>
          <a:xfrm flipH="1">
            <a:off x="4767850" y="2166420"/>
            <a:ext cx="69888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2BC97D7C-EA73-3959-5B56-32175F588DE8}"/>
              </a:ext>
            </a:extLst>
          </p:cNvPr>
          <p:cNvSpPr/>
          <p:nvPr/>
        </p:nvSpPr>
        <p:spPr>
          <a:xfrm>
            <a:off x="5466735" y="1899096"/>
            <a:ext cx="4031226" cy="4129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rgbClr val="FF0000"/>
                </a:solidFill>
              </a:rPr>
              <a:t>수정</a:t>
            </a:r>
            <a:r>
              <a:rPr lang="en-US" altLang="ko-KR" sz="1300" dirty="0">
                <a:solidFill>
                  <a:srgbClr val="FF0000"/>
                </a:solidFill>
              </a:rPr>
              <a:t>/</a:t>
            </a:r>
            <a:r>
              <a:rPr lang="ko-KR" altLang="en-US" sz="1300" dirty="0">
                <a:solidFill>
                  <a:srgbClr val="FF0000"/>
                </a:solidFill>
              </a:rPr>
              <a:t>삭제</a:t>
            </a:r>
            <a:r>
              <a:rPr lang="en-US" altLang="ko-KR" sz="1300" dirty="0">
                <a:solidFill>
                  <a:srgbClr val="FF0000"/>
                </a:solidFill>
              </a:rPr>
              <a:t>/</a:t>
            </a:r>
            <a:r>
              <a:rPr lang="ko-KR" altLang="en-US" sz="1300" dirty="0">
                <a:solidFill>
                  <a:srgbClr val="FF0000"/>
                </a:solidFill>
              </a:rPr>
              <a:t>목록 버튼  작성자</a:t>
            </a:r>
            <a:r>
              <a:rPr lang="en-US" altLang="ko-KR" sz="1300" dirty="0">
                <a:solidFill>
                  <a:srgbClr val="FF0000"/>
                </a:solidFill>
              </a:rPr>
              <a:t>,</a:t>
            </a:r>
            <a:r>
              <a:rPr lang="ko-KR" altLang="en-US" sz="1300" dirty="0">
                <a:solidFill>
                  <a:srgbClr val="FF0000"/>
                </a:solidFill>
              </a:rPr>
              <a:t>교수만 활성화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61C664-5128-A754-1857-E64ED936CF1A}"/>
              </a:ext>
            </a:extLst>
          </p:cNvPr>
          <p:cNvSpPr/>
          <p:nvPr/>
        </p:nvSpPr>
        <p:spPr>
          <a:xfrm>
            <a:off x="3673691" y="2581812"/>
            <a:ext cx="6752302" cy="6281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답변 상세 내용 및 답변자 이름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E79477-3B7D-DB86-2715-E49A5A898BA2}"/>
              </a:ext>
            </a:extLst>
          </p:cNvPr>
          <p:cNvSpPr/>
          <p:nvPr/>
        </p:nvSpPr>
        <p:spPr>
          <a:xfrm>
            <a:off x="3699721" y="1122899"/>
            <a:ext cx="6726272" cy="12565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7B7AA7-9115-C507-BFDA-2FE60658CD98}"/>
              </a:ext>
            </a:extLst>
          </p:cNvPr>
          <p:cNvSpPr txBox="1"/>
          <p:nvPr/>
        </p:nvSpPr>
        <p:spPr>
          <a:xfrm>
            <a:off x="5282382" y="1381697"/>
            <a:ext cx="3608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질문 상세 내용 및 질문자 정보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42E5E42-7919-CEF8-5FB2-CEDD5CE8D78B}"/>
              </a:ext>
            </a:extLst>
          </p:cNvPr>
          <p:cNvSpPr/>
          <p:nvPr/>
        </p:nvSpPr>
        <p:spPr>
          <a:xfrm>
            <a:off x="3673691" y="3300173"/>
            <a:ext cx="6752302" cy="1222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답변 작성 목록 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8F922C1-FE48-3207-3F3C-138EC8A91180}"/>
              </a:ext>
            </a:extLst>
          </p:cNvPr>
          <p:cNvSpPr/>
          <p:nvPr/>
        </p:nvSpPr>
        <p:spPr>
          <a:xfrm>
            <a:off x="4859594" y="4818537"/>
            <a:ext cx="980767" cy="2745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>
                <a:solidFill>
                  <a:srgbClr val="FF0000"/>
                </a:solidFill>
              </a:rPr>
              <a:t>완료 버튼</a:t>
            </a:r>
            <a:endParaRPr lang="ko-KR" altLang="en-US" sz="1300" dirty="0">
              <a:solidFill>
                <a:srgbClr val="FF0000"/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B7FA6485-557D-CFA0-6375-F8DEFF57DCCD}"/>
              </a:ext>
            </a:extLst>
          </p:cNvPr>
          <p:cNvCxnSpPr>
            <a:cxnSpLocks/>
          </p:cNvCxnSpPr>
          <p:nvPr/>
        </p:nvCxnSpPr>
        <p:spPr>
          <a:xfrm flipH="1" flipV="1">
            <a:off x="4385187" y="4375355"/>
            <a:ext cx="382663" cy="4023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6159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10EA8-F9E4-7D49-CE75-59A3000E7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소프트웨어, 컴퓨터 아이콘, 텍스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7FB54F-341A-7AED-62A7-DED23604BC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03041BAF-BB4F-DF8E-7004-D9FFEDB2A43B}"/>
              </a:ext>
            </a:extLst>
          </p:cNvPr>
          <p:cNvCxnSpPr>
            <a:cxnSpLocks/>
          </p:cNvCxnSpPr>
          <p:nvPr/>
        </p:nvCxnSpPr>
        <p:spPr>
          <a:xfrm flipH="1" flipV="1">
            <a:off x="2487561" y="4090219"/>
            <a:ext cx="511278" cy="4227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83F075F9-7DA4-1EE6-082E-DCE267BC2863}"/>
              </a:ext>
            </a:extLst>
          </p:cNvPr>
          <p:cNvSpPr/>
          <p:nvPr/>
        </p:nvSpPr>
        <p:spPr>
          <a:xfrm>
            <a:off x="3091129" y="4387793"/>
            <a:ext cx="1366683" cy="4129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rgbClr val="FF0000"/>
                </a:solidFill>
              </a:rPr>
              <a:t>완료</a:t>
            </a:r>
            <a:r>
              <a:rPr lang="en-US" altLang="ko-KR" sz="1300" dirty="0">
                <a:solidFill>
                  <a:srgbClr val="FF0000"/>
                </a:solidFill>
              </a:rPr>
              <a:t>,</a:t>
            </a:r>
            <a:r>
              <a:rPr lang="ko-KR" altLang="en-US" sz="1300" dirty="0">
                <a:solidFill>
                  <a:srgbClr val="FF0000"/>
                </a:solidFill>
              </a:rPr>
              <a:t>취소 버튼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1B0D302-11D1-36B6-CE07-C6CBBF7942EC}"/>
              </a:ext>
            </a:extLst>
          </p:cNvPr>
          <p:cNvSpPr/>
          <p:nvPr/>
        </p:nvSpPr>
        <p:spPr>
          <a:xfrm>
            <a:off x="2064774" y="3414999"/>
            <a:ext cx="9989574" cy="2914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공개</a:t>
            </a:r>
            <a:r>
              <a:rPr lang="en-US" altLang="ko-KR" sz="1400" dirty="0">
                <a:solidFill>
                  <a:srgbClr val="FF0000"/>
                </a:solidFill>
              </a:rPr>
              <a:t>/</a:t>
            </a:r>
            <a:r>
              <a:rPr lang="ko-KR" altLang="en-US" sz="1400" dirty="0">
                <a:solidFill>
                  <a:srgbClr val="FF0000"/>
                </a:solidFill>
              </a:rPr>
              <a:t>비공개 선택 여부 </a:t>
            </a:r>
            <a:r>
              <a:rPr lang="ko-KR" altLang="en-US" sz="1400" dirty="0" err="1">
                <a:solidFill>
                  <a:srgbClr val="FF0000"/>
                </a:solidFill>
              </a:rPr>
              <a:t>셀렉트</a:t>
            </a:r>
            <a:r>
              <a:rPr lang="ko-KR" altLang="en-US" sz="1400" dirty="0">
                <a:solidFill>
                  <a:srgbClr val="FF0000"/>
                </a:solidFill>
              </a:rPr>
              <a:t> 버튼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DC1FCE-6F51-7870-2AE5-2ED0121AF116}"/>
              </a:ext>
            </a:extLst>
          </p:cNvPr>
          <p:cNvSpPr/>
          <p:nvPr/>
        </p:nvSpPr>
        <p:spPr>
          <a:xfrm>
            <a:off x="2064774" y="1319240"/>
            <a:ext cx="9989574" cy="4129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 err="1">
                <a:solidFill>
                  <a:srgbClr val="FF0000"/>
                </a:solidFill>
              </a:rPr>
              <a:t>QnA</a:t>
            </a:r>
            <a:r>
              <a:rPr lang="ko-KR" altLang="en-US" sz="1300" dirty="0">
                <a:solidFill>
                  <a:srgbClr val="FF0000"/>
                </a:solidFill>
              </a:rPr>
              <a:t> 기존 제목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E7F509C-E752-5B71-76A1-85F279EB5DEA}"/>
              </a:ext>
            </a:extLst>
          </p:cNvPr>
          <p:cNvSpPr/>
          <p:nvPr/>
        </p:nvSpPr>
        <p:spPr>
          <a:xfrm>
            <a:off x="2064774" y="1886177"/>
            <a:ext cx="9989574" cy="13388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 err="1">
                <a:solidFill>
                  <a:srgbClr val="FF0000"/>
                </a:solidFill>
              </a:rPr>
              <a:t>QnA</a:t>
            </a:r>
            <a:r>
              <a:rPr lang="ko-KR" altLang="en-US" sz="1300" dirty="0">
                <a:solidFill>
                  <a:srgbClr val="FF0000"/>
                </a:solidFill>
              </a:rPr>
              <a:t> 기존 내용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AA02613-EE3E-D65A-DA80-9029E0794747}"/>
              </a:ext>
            </a:extLst>
          </p:cNvPr>
          <p:cNvSpPr/>
          <p:nvPr/>
        </p:nvSpPr>
        <p:spPr>
          <a:xfrm>
            <a:off x="2743200" y="829294"/>
            <a:ext cx="1710812" cy="4129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 err="1">
                <a:solidFill>
                  <a:srgbClr val="FF0000"/>
                </a:solidFill>
              </a:rPr>
              <a:t>QnA</a:t>
            </a:r>
            <a:r>
              <a:rPr lang="ko-KR" altLang="en-US" sz="1300" dirty="0">
                <a:solidFill>
                  <a:srgbClr val="FF0000"/>
                </a:solidFill>
              </a:rPr>
              <a:t> 수정 </a:t>
            </a:r>
          </a:p>
        </p:txBody>
      </p:sp>
    </p:spTree>
    <p:extLst>
      <p:ext uri="{BB962C8B-B14F-4D97-AF65-F5344CB8AC3E}">
        <p14:creationId xmlns:p14="http://schemas.microsoft.com/office/powerpoint/2010/main" val="34638605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22BF2-3391-2F74-1F7E-836008FA1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소프트웨어, 컴퓨터, 컴퓨터 아이콘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117722-D0D1-58E4-8BCC-7D6CD0380D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D0B621E-A03A-2489-3E85-EC3AFB1427E9}"/>
              </a:ext>
            </a:extLst>
          </p:cNvPr>
          <p:cNvSpPr txBox="1"/>
          <p:nvPr/>
        </p:nvSpPr>
        <p:spPr>
          <a:xfrm>
            <a:off x="4767850" y="2453115"/>
            <a:ext cx="19770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</a:rPr>
              <a:t>과제</a:t>
            </a:r>
            <a:r>
              <a:rPr lang="en-US" altLang="ko-KR" sz="2000" dirty="0">
                <a:solidFill>
                  <a:srgbClr val="FF0000"/>
                </a:solidFill>
              </a:rPr>
              <a:t> </a:t>
            </a:r>
            <a:r>
              <a:rPr lang="ko-KR" altLang="en-US" sz="2000" dirty="0">
                <a:solidFill>
                  <a:srgbClr val="FF0000"/>
                </a:solidFill>
              </a:rPr>
              <a:t>목록 부분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C55CE63-F728-D752-F87C-EEA324448141}"/>
              </a:ext>
            </a:extLst>
          </p:cNvPr>
          <p:cNvSpPr/>
          <p:nvPr/>
        </p:nvSpPr>
        <p:spPr>
          <a:xfrm>
            <a:off x="3382296" y="1240735"/>
            <a:ext cx="7201013" cy="32249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3642733-28F6-0AE4-F7FA-4C4A822CE238}"/>
              </a:ext>
            </a:extLst>
          </p:cNvPr>
          <p:cNvSpPr/>
          <p:nvPr/>
        </p:nvSpPr>
        <p:spPr>
          <a:xfrm>
            <a:off x="8492381" y="757085"/>
            <a:ext cx="1366683" cy="4129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rgbClr val="FF0000"/>
                </a:solidFill>
              </a:rPr>
              <a:t>질문 작성 버튼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AA26DE2-9C1B-3F62-B07A-619C64D4E922}"/>
              </a:ext>
            </a:extLst>
          </p:cNvPr>
          <p:cNvSpPr/>
          <p:nvPr/>
        </p:nvSpPr>
        <p:spPr>
          <a:xfrm>
            <a:off x="6744931" y="1446815"/>
            <a:ext cx="1608691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교수만 버튼 활성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CB5867CA-38A8-7EE5-9C0B-FCF48E0FE07B}"/>
              </a:ext>
            </a:extLst>
          </p:cNvPr>
          <p:cNvCxnSpPr>
            <a:cxnSpLocks/>
          </p:cNvCxnSpPr>
          <p:nvPr/>
        </p:nvCxnSpPr>
        <p:spPr>
          <a:xfrm flipV="1">
            <a:off x="7894053" y="1086464"/>
            <a:ext cx="481781" cy="3395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74664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7518D-84E3-8D1D-5BAC-145569107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텍스트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419900-EC76-FCD6-D6C7-94B8E1DE5F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83F722F3-B6CB-BA9B-9B96-9A0AE2465C40}"/>
              </a:ext>
            </a:extLst>
          </p:cNvPr>
          <p:cNvCxnSpPr>
            <a:cxnSpLocks/>
          </p:cNvCxnSpPr>
          <p:nvPr/>
        </p:nvCxnSpPr>
        <p:spPr>
          <a:xfrm flipH="1">
            <a:off x="6459794" y="2737281"/>
            <a:ext cx="806245" cy="192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C9574ACB-E588-887E-BBBE-5B5FE3954467}"/>
              </a:ext>
            </a:extLst>
          </p:cNvPr>
          <p:cNvSpPr/>
          <p:nvPr/>
        </p:nvSpPr>
        <p:spPr>
          <a:xfrm>
            <a:off x="4729317" y="2722828"/>
            <a:ext cx="1612489" cy="4129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rgbClr val="FF0000"/>
                </a:solidFill>
              </a:rPr>
              <a:t>수정</a:t>
            </a:r>
            <a:r>
              <a:rPr lang="en-US" altLang="ko-KR" sz="1300" dirty="0">
                <a:solidFill>
                  <a:srgbClr val="FF0000"/>
                </a:solidFill>
              </a:rPr>
              <a:t>,</a:t>
            </a:r>
            <a:r>
              <a:rPr lang="ko-KR" altLang="en-US" sz="1300" dirty="0">
                <a:solidFill>
                  <a:srgbClr val="FF0000"/>
                </a:solidFill>
              </a:rPr>
              <a:t>삭제</a:t>
            </a:r>
            <a:r>
              <a:rPr lang="en-US" altLang="ko-KR" sz="1300" dirty="0">
                <a:solidFill>
                  <a:srgbClr val="FF0000"/>
                </a:solidFill>
              </a:rPr>
              <a:t>,</a:t>
            </a:r>
            <a:r>
              <a:rPr lang="ko-KR" altLang="en-US" sz="1300" dirty="0">
                <a:solidFill>
                  <a:srgbClr val="FF0000"/>
                </a:solidFill>
              </a:rPr>
              <a:t>목록버튼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C7E1AB3-55B5-D433-7D95-55E0DACFF3E6}"/>
              </a:ext>
            </a:extLst>
          </p:cNvPr>
          <p:cNvSpPr/>
          <p:nvPr/>
        </p:nvSpPr>
        <p:spPr>
          <a:xfrm>
            <a:off x="3682180" y="3414998"/>
            <a:ext cx="6681020" cy="23762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전체 학생과제 제출 목록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학생일 경우 본인 제출목록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1947CE-E938-578C-81A1-3B0721F27831}"/>
              </a:ext>
            </a:extLst>
          </p:cNvPr>
          <p:cNvSpPr/>
          <p:nvPr/>
        </p:nvSpPr>
        <p:spPr>
          <a:xfrm>
            <a:off x="3682180" y="1319240"/>
            <a:ext cx="6838336" cy="11388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rgbClr val="FF0000"/>
                </a:solidFill>
              </a:rPr>
              <a:t>과제 상세 내용 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657D4DD-0CF0-F138-0ACB-F01130EA0AFA}"/>
              </a:ext>
            </a:extLst>
          </p:cNvPr>
          <p:cNvSpPr/>
          <p:nvPr/>
        </p:nvSpPr>
        <p:spPr>
          <a:xfrm>
            <a:off x="7384027" y="2567388"/>
            <a:ext cx="2890683" cy="6870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rgbClr val="FF0000"/>
                </a:solidFill>
              </a:rPr>
              <a:t>교수만 활성화</a:t>
            </a:r>
            <a:br>
              <a:rPr lang="en-US" altLang="ko-KR" sz="1300" dirty="0">
                <a:solidFill>
                  <a:srgbClr val="FF0000"/>
                </a:solidFill>
              </a:rPr>
            </a:br>
            <a:r>
              <a:rPr lang="ko-KR" altLang="en-US" sz="1300" dirty="0">
                <a:solidFill>
                  <a:srgbClr val="FF0000"/>
                </a:solidFill>
              </a:rPr>
              <a:t>학생일 경우 </a:t>
            </a:r>
            <a:r>
              <a:rPr lang="ko-KR" altLang="en-US" sz="1300" dirty="0" err="1">
                <a:solidFill>
                  <a:srgbClr val="FF0000"/>
                </a:solidFill>
              </a:rPr>
              <a:t>재줄</a:t>
            </a:r>
            <a:r>
              <a:rPr lang="ko-KR" altLang="en-US" sz="1300" dirty="0">
                <a:solidFill>
                  <a:srgbClr val="FF0000"/>
                </a:solidFill>
              </a:rPr>
              <a:t> 버튼 활성화</a:t>
            </a:r>
            <a:br>
              <a:rPr lang="en-US" altLang="ko-KR" sz="1300" dirty="0">
                <a:solidFill>
                  <a:srgbClr val="FF0000"/>
                </a:solidFill>
              </a:rPr>
            </a:br>
            <a:r>
              <a:rPr lang="ko-KR" altLang="en-US" sz="1300" dirty="0">
                <a:solidFill>
                  <a:srgbClr val="FF0000"/>
                </a:solidFill>
              </a:rPr>
              <a:t>냈을 경우 </a:t>
            </a:r>
            <a:r>
              <a:rPr lang="ko-KR" altLang="en-US" sz="1300" dirty="0" err="1">
                <a:solidFill>
                  <a:srgbClr val="FF0000"/>
                </a:solidFill>
              </a:rPr>
              <a:t>재채줄</a:t>
            </a:r>
            <a:r>
              <a:rPr lang="ko-KR" altLang="en-US" sz="1300" dirty="0">
                <a:solidFill>
                  <a:srgbClr val="FF0000"/>
                </a:solidFill>
              </a:rPr>
              <a:t> 버튼 활성화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5C7B07F-78B2-7022-677A-051FE6D29BBF}"/>
              </a:ext>
            </a:extLst>
          </p:cNvPr>
          <p:cNvSpPr/>
          <p:nvPr/>
        </p:nvSpPr>
        <p:spPr>
          <a:xfrm>
            <a:off x="8996517" y="3986981"/>
            <a:ext cx="1366683" cy="4129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rgbClr val="FF0000"/>
                </a:solidFill>
              </a:rPr>
              <a:t>채점 버튼 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32F80EC-45F4-569A-95E0-DE57B75E17CF}"/>
              </a:ext>
            </a:extLst>
          </p:cNvPr>
          <p:cNvCxnSpPr>
            <a:cxnSpLocks/>
          </p:cNvCxnSpPr>
          <p:nvPr/>
        </p:nvCxnSpPr>
        <p:spPr>
          <a:xfrm flipV="1">
            <a:off x="9306233" y="4560457"/>
            <a:ext cx="270386" cy="6043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86FB6AD-137A-037D-1273-E119590C259A}"/>
              </a:ext>
            </a:extLst>
          </p:cNvPr>
          <p:cNvSpPr/>
          <p:nvPr/>
        </p:nvSpPr>
        <p:spPr>
          <a:xfrm>
            <a:off x="8190272" y="5164845"/>
            <a:ext cx="1612489" cy="4129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rgbClr val="FF0000"/>
                </a:solidFill>
              </a:rPr>
              <a:t>교수만 활성화</a:t>
            </a:r>
          </a:p>
        </p:txBody>
      </p:sp>
    </p:spTree>
    <p:extLst>
      <p:ext uri="{BB962C8B-B14F-4D97-AF65-F5344CB8AC3E}">
        <p14:creationId xmlns:p14="http://schemas.microsoft.com/office/powerpoint/2010/main" val="34440039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4E542-156A-6B23-6E98-046DBFD33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 descr="소프트웨어, 텍스트, 멀티미디어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D3BF0D-1767-AB06-B05C-D00E0FF26E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002"/>
            <a:ext cx="12192000" cy="68580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7E2F76C-7B5B-4934-B430-3A352F446339}"/>
              </a:ext>
            </a:extLst>
          </p:cNvPr>
          <p:cNvSpPr/>
          <p:nvPr/>
        </p:nvSpPr>
        <p:spPr>
          <a:xfrm>
            <a:off x="3682180" y="3414999"/>
            <a:ext cx="3377381" cy="4114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마감일 설정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99B51D2-F15E-E639-BB42-9DEC3F9B8483}"/>
              </a:ext>
            </a:extLst>
          </p:cNvPr>
          <p:cNvSpPr/>
          <p:nvPr/>
        </p:nvSpPr>
        <p:spPr>
          <a:xfrm>
            <a:off x="3682180" y="1319240"/>
            <a:ext cx="6838336" cy="4832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rgbClr val="FF0000"/>
                </a:solidFill>
              </a:rPr>
              <a:t>과제 제목 입력 칸 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82078B6-FAD7-26DC-343F-369264F4A195}"/>
              </a:ext>
            </a:extLst>
          </p:cNvPr>
          <p:cNvSpPr/>
          <p:nvPr/>
        </p:nvSpPr>
        <p:spPr>
          <a:xfrm>
            <a:off x="4402395" y="4796787"/>
            <a:ext cx="1366683" cy="4129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rgbClr val="FF0000"/>
                </a:solidFill>
              </a:rPr>
              <a:t>등록</a:t>
            </a:r>
            <a:r>
              <a:rPr lang="en-US" altLang="ko-KR" sz="1300" dirty="0">
                <a:solidFill>
                  <a:srgbClr val="FF0000"/>
                </a:solidFill>
              </a:rPr>
              <a:t>/</a:t>
            </a:r>
            <a:r>
              <a:rPr lang="ko-KR" altLang="en-US" sz="1300" dirty="0">
                <a:solidFill>
                  <a:srgbClr val="FF0000"/>
                </a:solidFill>
              </a:rPr>
              <a:t>취소 버튼 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200B413-7986-CF86-B5F2-F7ED5018E8F5}"/>
              </a:ext>
            </a:extLst>
          </p:cNvPr>
          <p:cNvCxnSpPr>
            <a:cxnSpLocks/>
          </p:cNvCxnSpPr>
          <p:nvPr/>
        </p:nvCxnSpPr>
        <p:spPr>
          <a:xfrm flipH="1" flipV="1">
            <a:off x="4230330" y="4537649"/>
            <a:ext cx="498987" cy="2668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9807DA2-A02A-1AB4-87EE-B11F5057C76D}"/>
              </a:ext>
            </a:extLst>
          </p:cNvPr>
          <p:cNvSpPr/>
          <p:nvPr/>
        </p:nvSpPr>
        <p:spPr>
          <a:xfrm>
            <a:off x="4729317" y="825181"/>
            <a:ext cx="2079522" cy="4832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rgbClr val="FF0000"/>
                </a:solidFill>
              </a:rPr>
              <a:t>교수 과제 등록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886A6A8-3BE6-93DE-20AE-34F767DB8894}"/>
              </a:ext>
            </a:extLst>
          </p:cNvPr>
          <p:cNvSpPr/>
          <p:nvPr/>
        </p:nvSpPr>
        <p:spPr>
          <a:xfrm>
            <a:off x="3682180" y="1943314"/>
            <a:ext cx="6838336" cy="13111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rgbClr val="FF0000"/>
                </a:solidFill>
              </a:rPr>
              <a:t>과제 내용 입력 칸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B2FCC84-46FB-7F98-52E8-A86632AC0240}"/>
              </a:ext>
            </a:extLst>
          </p:cNvPr>
          <p:cNvSpPr/>
          <p:nvPr/>
        </p:nvSpPr>
        <p:spPr>
          <a:xfrm>
            <a:off x="7101348" y="3414999"/>
            <a:ext cx="3377381" cy="4114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과제 배점 설정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EE7B308-4203-11D8-4B27-E8E73E76F714}"/>
              </a:ext>
            </a:extLst>
          </p:cNvPr>
          <p:cNvSpPr/>
          <p:nvPr/>
        </p:nvSpPr>
        <p:spPr>
          <a:xfrm>
            <a:off x="3682179" y="3901696"/>
            <a:ext cx="6838336" cy="4114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첨부 파일 칸</a:t>
            </a:r>
          </a:p>
        </p:txBody>
      </p:sp>
    </p:spTree>
    <p:extLst>
      <p:ext uri="{BB962C8B-B14F-4D97-AF65-F5344CB8AC3E}">
        <p14:creationId xmlns:p14="http://schemas.microsoft.com/office/powerpoint/2010/main" val="14593903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8BF6D-67D9-E705-3C2C-CEE2EAE47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소프트웨어, 텍스트, 컴퓨터 아이콘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059F95-117B-EF62-B41C-56DA7D78D8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96D14A8F-FF50-0DB0-A046-355D01A8DC6F}"/>
              </a:ext>
            </a:extLst>
          </p:cNvPr>
          <p:cNvSpPr/>
          <p:nvPr/>
        </p:nvSpPr>
        <p:spPr>
          <a:xfrm>
            <a:off x="3682180" y="3414999"/>
            <a:ext cx="3377381" cy="4114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마감일 설정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C851AAC-592F-5AED-8EC7-4470CF62A807}"/>
              </a:ext>
            </a:extLst>
          </p:cNvPr>
          <p:cNvSpPr/>
          <p:nvPr/>
        </p:nvSpPr>
        <p:spPr>
          <a:xfrm>
            <a:off x="3682180" y="1319240"/>
            <a:ext cx="6838336" cy="4832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rgbClr val="FF0000"/>
                </a:solidFill>
              </a:rPr>
              <a:t>기존 과제 제목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C755DB3-D02D-3019-470F-D04FF266C2CD}"/>
              </a:ext>
            </a:extLst>
          </p:cNvPr>
          <p:cNvSpPr/>
          <p:nvPr/>
        </p:nvSpPr>
        <p:spPr>
          <a:xfrm>
            <a:off x="4402395" y="4796787"/>
            <a:ext cx="2313037" cy="4129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rgbClr val="FF0000"/>
                </a:solidFill>
              </a:rPr>
              <a:t>저장</a:t>
            </a:r>
            <a:r>
              <a:rPr lang="en-US" altLang="ko-KR" sz="1300" dirty="0">
                <a:solidFill>
                  <a:srgbClr val="FF0000"/>
                </a:solidFill>
              </a:rPr>
              <a:t>/</a:t>
            </a:r>
            <a:r>
              <a:rPr lang="ko-KR" altLang="en-US" sz="1300" dirty="0">
                <a:solidFill>
                  <a:srgbClr val="FF0000"/>
                </a:solidFill>
              </a:rPr>
              <a:t>취소 버튼</a:t>
            </a:r>
            <a:br>
              <a:rPr lang="en-US" altLang="ko-KR" sz="1300" dirty="0">
                <a:solidFill>
                  <a:srgbClr val="FF0000"/>
                </a:solidFill>
              </a:rPr>
            </a:br>
            <a:r>
              <a:rPr lang="ko-KR" altLang="en-US" sz="1300" dirty="0">
                <a:solidFill>
                  <a:srgbClr val="FF0000"/>
                </a:solidFill>
              </a:rPr>
              <a:t>학생일 경우 </a:t>
            </a:r>
            <a:r>
              <a:rPr lang="ko-KR" altLang="en-US" sz="1300" dirty="0" err="1">
                <a:solidFill>
                  <a:srgbClr val="FF0000"/>
                </a:solidFill>
              </a:rPr>
              <a:t>제제출</a:t>
            </a:r>
            <a:r>
              <a:rPr lang="en-US" altLang="ko-KR" sz="1300" dirty="0">
                <a:solidFill>
                  <a:srgbClr val="FF0000"/>
                </a:solidFill>
              </a:rPr>
              <a:t> </a:t>
            </a:r>
            <a:r>
              <a:rPr lang="ko-KR" altLang="en-US" sz="1300" dirty="0">
                <a:solidFill>
                  <a:srgbClr val="FF0000"/>
                </a:solidFill>
              </a:rPr>
              <a:t>활성화 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DAC3ACA-10EF-7547-B5C0-9208A499C7C0}"/>
              </a:ext>
            </a:extLst>
          </p:cNvPr>
          <p:cNvCxnSpPr>
            <a:cxnSpLocks/>
          </p:cNvCxnSpPr>
          <p:nvPr/>
        </p:nvCxnSpPr>
        <p:spPr>
          <a:xfrm flipH="1" flipV="1">
            <a:off x="4230330" y="4537649"/>
            <a:ext cx="498987" cy="2668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60B0E9F-AFF7-13B3-C119-270B227813D7}"/>
              </a:ext>
            </a:extLst>
          </p:cNvPr>
          <p:cNvSpPr/>
          <p:nvPr/>
        </p:nvSpPr>
        <p:spPr>
          <a:xfrm>
            <a:off x="4729317" y="825181"/>
            <a:ext cx="2079522" cy="4832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rgbClr val="FF0000"/>
                </a:solidFill>
              </a:rPr>
              <a:t>교수 과제 수정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F54E288-5943-EC60-C403-2A1FECDD3437}"/>
              </a:ext>
            </a:extLst>
          </p:cNvPr>
          <p:cNvSpPr/>
          <p:nvPr/>
        </p:nvSpPr>
        <p:spPr>
          <a:xfrm>
            <a:off x="3682180" y="1943314"/>
            <a:ext cx="6838336" cy="13111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rgbClr val="FF0000"/>
                </a:solidFill>
              </a:rPr>
              <a:t>기존 과제 내용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1A0FABE-0E2A-8CBC-0B85-E5BFED3809C8}"/>
              </a:ext>
            </a:extLst>
          </p:cNvPr>
          <p:cNvSpPr/>
          <p:nvPr/>
        </p:nvSpPr>
        <p:spPr>
          <a:xfrm>
            <a:off x="7101348" y="3414999"/>
            <a:ext cx="3377381" cy="4114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과제 배점 설정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18E850A-127F-3832-83FB-552CE72D3886}"/>
              </a:ext>
            </a:extLst>
          </p:cNvPr>
          <p:cNvSpPr/>
          <p:nvPr/>
        </p:nvSpPr>
        <p:spPr>
          <a:xfrm>
            <a:off x="3682179" y="3901696"/>
            <a:ext cx="6838336" cy="4114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첨부 파일 칸</a:t>
            </a:r>
          </a:p>
        </p:txBody>
      </p:sp>
    </p:spTree>
    <p:extLst>
      <p:ext uri="{BB962C8B-B14F-4D97-AF65-F5344CB8AC3E}">
        <p14:creationId xmlns:p14="http://schemas.microsoft.com/office/powerpoint/2010/main" val="31411943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31E97-435B-C157-7509-EF126D10F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소프트웨어, 멀티미디어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9FE36A-A23F-D34D-F251-E113170549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CC88DA46-FAAC-EB94-3B6B-31DF0B4E9818}"/>
              </a:ext>
            </a:extLst>
          </p:cNvPr>
          <p:cNvSpPr/>
          <p:nvPr/>
        </p:nvSpPr>
        <p:spPr>
          <a:xfrm>
            <a:off x="4599040" y="5778442"/>
            <a:ext cx="1366683" cy="4129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rgbClr val="FF0000"/>
                </a:solidFill>
              </a:rPr>
              <a:t>제출</a:t>
            </a:r>
            <a:r>
              <a:rPr lang="en-US" altLang="ko-KR" sz="1300" dirty="0">
                <a:solidFill>
                  <a:srgbClr val="FF0000"/>
                </a:solidFill>
              </a:rPr>
              <a:t>/</a:t>
            </a:r>
            <a:r>
              <a:rPr lang="ko-KR" altLang="en-US" sz="1300" dirty="0">
                <a:solidFill>
                  <a:srgbClr val="FF0000"/>
                </a:solidFill>
              </a:rPr>
              <a:t>취소 버튼 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F0B27709-B0D3-4F47-4453-E909E385509E}"/>
              </a:ext>
            </a:extLst>
          </p:cNvPr>
          <p:cNvCxnSpPr>
            <a:cxnSpLocks/>
          </p:cNvCxnSpPr>
          <p:nvPr/>
        </p:nvCxnSpPr>
        <p:spPr>
          <a:xfrm flipH="1" flipV="1">
            <a:off x="4100053" y="5487993"/>
            <a:ext cx="498987" cy="2668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0C679A4-9F97-812D-BD98-1B6F37A8A864}"/>
              </a:ext>
            </a:extLst>
          </p:cNvPr>
          <p:cNvSpPr/>
          <p:nvPr/>
        </p:nvSpPr>
        <p:spPr>
          <a:xfrm>
            <a:off x="4729317" y="825181"/>
            <a:ext cx="2079522" cy="4832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rgbClr val="FF0000"/>
                </a:solidFill>
              </a:rPr>
              <a:t>학생 과제 제출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F8799F1-6868-029D-F967-920F86916E0C}"/>
              </a:ext>
            </a:extLst>
          </p:cNvPr>
          <p:cNvSpPr/>
          <p:nvPr/>
        </p:nvSpPr>
        <p:spPr>
          <a:xfrm>
            <a:off x="3682180" y="1308420"/>
            <a:ext cx="6838336" cy="19460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rgbClr val="FF0000"/>
                </a:solidFill>
              </a:rPr>
              <a:t>과제 상세 정보 및 내용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ADE0309-85E8-9057-82DE-1D36FAC5E914}"/>
              </a:ext>
            </a:extLst>
          </p:cNvPr>
          <p:cNvSpPr/>
          <p:nvPr/>
        </p:nvSpPr>
        <p:spPr>
          <a:xfrm>
            <a:off x="3682180" y="3368510"/>
            <a:ext cx="6838336" cy="13499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과제 제출 내용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6F66F83-4002-A6B0-79B4-CBB9575C08BD}"/>
              </a:ext>
            </a:extLst>
          </p:cNvPr>
          <p:cNvSpPr/>
          <p:nvPr/>
        </p:nvSpPr>
        <p:spPr>
          <a:xfrm>
            <a:off x="3765753" y="4876643"/>
            <a:ext cx="6838336" cy="4114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첨부 파일 칸</a:t>
            </a:r>
          </a:p>
        </p:txBody>
      </p:sp>
    </p:spTree>
    <p:extLst>
      <p:ext uri="{BB962C8B-B14F-4D97-AF65-F5344CB8AC3E}">
        <p14:creationId xmlns:p14="http://schemas.microsoft.com/office/powerpoint/2010/main" val="1263321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783</Words>
  <Application>Microsoft Macintosh PowerPoint</Application>
  <PresentationFormat>와이드스크린</PresentationFormat>
  <Paragraphs>189</Paragraphs>
  <Slides>49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52" baseType="lpstr">
      <vt:lpstr>맑은 고딕</vt:lpstr>
      <vt:lpstr>Arial</vt:lpstr>
      <vt:lpstr>Office 테마</vt:lpstr>
      <vt:lpstr>화면 설계서 </vt:lpstr>
      <vt:lpstr>로그인</vt:lpstr>
      <vt:lpstr>PowerPoint 프레젠테이션</vt:lpstr>
      <vt:lpstr>PowerPoint 프레젠테이션</vt:lpstr>
      <vt:lpstr>관리자 화면</vt:lpstr>
      <vt:lpstr>PowerPoint 프레젠테이션</vt:lpstr>
      <vt:lpstr>PowerPoint 프레젠테이션</vt:lpstr>
      <vt:lpstr>PowerPoint 프레젠테이션</vt:lpstr>
      <vt:lpstr>PowerPoint 프레젠테이션</vt:lpstr>
      <vt:lpstr>교수 화면</vt:lpstr>
      <vt:lpstr>내 강의 목록 </vt:lpstr>
      <vt:lpstr>강의 상세</vt:lpstr>
      <vt:lpstr>강의 상세 - 출석</vt:lpstr>
      <vt:lpstr>강의 상세 - 성적</vt:lpstr>
      <vt:lpstr>강의 상세 - 수강생</vt:lpstr>
      <vt:lpstr>강의 수강 신청</vt:lpstr>
      <vt:lpstr>강의 수강 신청/수정 폼</vt:lpstr>
      <vt:lpstr>학생 화면</vt:lpstr>
      <vt:lpstr>마이페이지</vt:lpstr>
      <vt:lpstr>마이페이지</vt:lpstr>
      <vt:lpstr>마이페이지</vt:lpstr>
      <vt:lpstr>마이페이지</vt:lpstr>
      <vt:lpstr>마이페이지</vt:lpstr>
      <vt:lpstr>마이페이지</vt:lpstr>
      <vt:lpstr>마이페이지</vt:lpstr>
      <vt:lpstr>마이페이지</vt:lpstr>
      <vt:lpstr>전체성적조회(학생)</vt:lpstr>
      <vt:lpstr>전체성적조회(학생)</vt:lpstr>
      <vt:lpstr>내 강의 조회(학생)</vt:lpstr>
      <vt:lpstr>내 강의 조회(학생)</vt:lpstr>
      <vt:lpstr>수강신청</vt:lpstr>
      <vt:lpstr>수강신청</vt:lpstr>
      <vt:lpstr>수강신청</vt:lpstr>
      <vt:lpstr>내 시간표</vt:lpstr>
      <vt:lpstr>게시판 화면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최지윤</dc:creator>
  <cp:lastModifiedBy>최지윤</cp:lastModifiedBy>
  <cp:revision>6</cp:revision>
  <dcterms:created xsi:type="dcterms:W3CDTF">2026-01-29T08:47:53Z</dcterms:created>
  <dcterms:modified xsi:type="dcterms:W3CDTF">2026-01-30T01:25:41Z</dcterms:modified>
</cp:coreProperties>
</file>